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85" r:id="rId2"/>
    <p:sldId id="286" r:id="rId3"/>
    <p:sldId id="306" r:id="rId4"/>
    <p:sldId id="297" r:id="rId5"/>
    <p:sldId id="298" r:id="rId6"/>
    <p:sldId id="299" r:id="rId7"/>
    <p:sldId id="300" r:id="rId8"/>
    <p:sldId id="292" r:id="rId9"/>
    <p:sldId id="304" r:id="rId10"/>
    <p:sldId id="307" r:id="rId11"/>
    <p:sldId id="301" r:id="rId12"/>
    <p:sldId id="283" r:id="rId13"/>
    <p:sldId id="30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626" autoAdjust="0"/>
  </p:normalViewPr>
  <p:slideViewPr>
    <p:cSldViewPr snapToGrid="0" snapToObjects="1">
      <p:cViewPr varScale="1">
        <p:scale>
          <a:sx n="91" d="100"/>
          <a:sy n="91" d="100"/>
        </p:scale>
        <p:origin x="74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2975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tutorial walks through how to train a model that reads a hospital discharge summary and assigns the ICD-9 diagnosis codes a human medical coder would assign. It is a real, everyday healthcare task: coding drives billing, reimbursement, and epidemiology, and doing it by hand is slow and error-prone.</a:t>
            </a:r>
          </a:p>
          <a:p/>
          <a:p>
            <a:r>
              <a:t>The diagram captures the whole tutorial in one picture, a free-text note goes in, and a set of standardized codes comes out. The approach is built up in two stages: first a simple, transparent baseline, then a convolutional network with per-label attention that also highlights the phrases it attended to for each prediction.</a:t>
            </a:r>
          </a:p>
          <a:p/>
          <a:p>
            <a:r>
              <a:t>The work uses the MIMIC-III dataset under its data use agreement. The full commented code is available in the notebook repository: https://github.com/AbdullahAbdelKhalek/ai-in-healthcare-icd-coding</a:t>
            </a:r>
          </a:p>
          <a:p/>
          <a:p>
            <a:r>
              <a:t>The cohort at a glance: 16,410 admissions from 12,687 patients and 50 diagnosis codes, split by patient into 13,075 training, 1,732 validation, and 1,603 test admissions.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human process is where this starts, and it makes the machine-learning version easier to follow. When a patient is discharged, a clinician writes a narrative discharge summary. A certified coder then reads that narrative and assigns ICD codes, a controlled vocabulary in which every diagnosis has a number, for example 4019 for hypertension and 4280 for heart failure.</a:t>
            </a:r>
          </a:p>
          <a:p>
            <a:endParaRPr/>
          </a:p>
          <a:p>
            <a:r>
              <a:t>These codes are not bureaucratic trivia: they determine reimbursement, feed quality and safety reporting, and let researchers define cohorts. Manual coding, however, is labor-intensive, and coders disagree with one another more often than might be expected. That combination, a narrow, high-volume, text-in / labels-out task, is exactly where machine learning can help, by proposing codes for a human to confirm.</a:t>
            </a:r>
          </a:p>
          <a:p>
            <a:endParaRPr/>
          </a:p>
          <a:p>
            <a:r>
              <a:t>The goal is decision support, a first-pass suggester that a coder reviews, not an autonomous biller.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machine-learning terms, the input is a single document, the discharge summary, and the output is a set of labels indicating which ICD codes apply. The key subtlety is that this is a multi-label problem, not multi-class. Multi-class picks exactly one category, but a single admission usually carries several diagnoses at once, so the correct output is a subset of codes and the model must be able to say yes to many codes independently.</a:t>
            </a:r>
          </a:p>
          <a:p>
            <a:endParaRPr/>
          </a:p>
          <a:p>
            <a:r>
              <a:t>The scope is restricted to the 50 most frequent codes, the well-known MIMIC-III top-50 setup. This keeps the problem tractable and teachable while still covering the diagnoses that appear constantly in an ICU population, charted here: hypertension, heart failure, atrial fibrillation, acute kidney failure, and diabetes. The full-code version has thousands of labels and is considerably harder, which makes it a natural stretch goal.</a:t>
            </a:r>
          </a:p>
          <a:p>
            <a:endParaRPr/>
          </a:p>
          <a:p>
            <a:r>
              <a:t>Choosing the label space is itself a modeling decision, not a given.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is built from three MIMIC-III tables. NOTEEVENTS holds the clinical notes; only discharge summaries are kept, with each report concatenated with any addenda. DIAGNOSES_ICD lists the ICD-9 codes for each admission and serves as the label source. D_ICD_DIAGNOSES maps each code to a readable title for use in figures and explanations.</a:t>
            </a:r>
          </a:p>
          <a:p>
            <a:endParaRPr/>
          </a:p>
          <a:p>
            <a:r>
              <a:t>Notes are joined to codes on the admission id, limited to the 50 most frequent codes, and kept only for admissions carrying at least one of them: 16,410 admissions from 12,687 patients.</a:t>
            </a:r>
          </a:p>
          <a:p>
            <a:endParaRPr/>
          </a:p>
          <a:p>
            <a:r>
              <a:t>The most important methodological point is the split, which is done by patient rather than by note. If the same patient appeared in both train and test, the model could memorize patient-specific wording and look better than it really is; splitting on patient id removes that leakage. The result is 13,075 training, 1,732 validation, and 1,603 test admissions.</a:t>
            </a:r>
          </a:p>
          <a:p>
            <a:endParaRPr/>
          </a:p>
          <a:p>
            <a:r>
              <a:t>A note on data use: MIMIC is credentialed, so no raw data or note text is shared with this tutorial; the code reads data supplied locally.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clinical notes in MIMIC are de-identified, so real names and dates appear as bracketed placeholders such as [**Known </a:t>
            </a:r>
            <a:r>
              <a:rPr dirty="0" err="1"/>
              <a:t>lastname</a:t>
            </a:r>
            <a:r>
              <a:rPr dirty="0"/>
              <a:t>**]. These are stripped out first because they carry no signal. The text is lowercased, and only alphabetic word tokens are kept while pure numbers and punctuation are dropped. That keeps the vocabulary small and readable, and easy to justify to a reviewer.</a:t>
            </a:r>
          </a:p>
          <a:p>
            <a:endParaRPr dirty="0"/>
          </a:p>
          <a:p>
            <a:r>
              <a:rPr dirty="0"/>
              <a:t>There is a real trade-off here: numbers such as a creatinine of 2.1 carry clinical meaning, and a production system might keep and bucket them. For a teaching baseline, a rule that can be stated in one sentence is preferred over a pipeline that cannot be seen through. What matters is that the same cleaning feeds both the baseline and the neural network, so any difference in results comes from the model rather than from different text.</a:t>
            </a:r>
          </a:p>
          <a:p>
            <a:endParaRPr dirty="0"/>
          </a:p>
          <a:p>
            <a:r>
              <a:rPr dirty="0"/>
              <a:t>Preprocessing is part of the model; it should stay honest and identical across the systems being compared.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the model is judged has to be decided before any modeling, because the metric shapes every later choice. Plain accuracy is a trap in multi-label problems: most of the 50 codes are absent from any given note, so a lazy model that says no to everything scores high on per-label accuracy while being useless.</a:t>
            </a:r>
          </a:p>
          <a:p>
            <a:endParaRPr/>
          </a:p>
          <a:p>
            <a:r>
              <a:t>Three honest metrics are used instead. Micro-F1 pools every label decision into one precision and recall; it is dominated by the frequent codes and reflects, overall, how many code assignments were correct. Macro-F1 computes F1 separately for each of the 50 codes and averages them with equal weight, so a rare code counts as much as hypertension. It exposes whether the model only learned the easy codes. Precision@k asks how many of the k codes the model is most confident about are truly present, which mirrors real use, where the tool hands a coder a short ranked list to confirm.</a:t>
            </a:r>
          </a:p>
          <a:p>
            <a:endParaRPr/>
          </a:p>
          <a:p>
            <a:r>
              <a:t>The probability threshold is chosen on validation data, and results are reported on a test set never touched during development, so the numbers are not inflated by tuning.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baseline represents each note with TF-IDF, term frequency times inverse document frequency. In plain terms, it counts how often each word appears but down-weights words that appear everywhere, so distinctive terms like dialysis carry more weight than the or patient. One logistic regression is then trained per code in a one-vs-rest scheme: fifty independent yes/no classifiers.</a:t>
            </a:r>
          </a:p>
          <a:p>
            <a:endParaRPr/>
          </a:p>
          <a:p>
            <a:r>
              <a:t>This approach is deliberately old-fashioned, and that is the point. It is fast, transparent, and on the frequent codes surprisingly strong: micro-F1 0.602, macro-F1 0.533, and precision@5 0.520 on the test set, trained in a couple of minutes on a CPU.</a:t>
            </a:r>
          </a:p>
          <a:p>
            <a:endParaRPr/>
          </a:p>
          <a:p>
            <a:r>
              <a:t>The broader lesson is to always build a simple baseline before a neural network. Without one, there is no way to tell whether the deep model's added complexity is buying anything; the baseline is the bar the CNN has to clear.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deep model introduces the one idea worth remembering here: per-label attention.</a:t>
            </a:r>
          </a:p>
          <a:p/>
          <a:p>
            <a:r>
              <a:t>Reading the pipeline left to right: first, every word becomes a learned vector, an embedding, so the model can discover that renal and kidney are related rather than treating them as unrelated symbols. Second, a one-dimensional convolution slides a small window, here 10 words wide, across the note. A convolution is essentially a learned phrase detector: it lights up on local patterns like acute renal failure wherever they occur.</a:t>
            </a:r>
          </a:p>
          <a:p/>
          <a:p>
            <a:r>
              <a:t>The third stage is the heart of it. Instead of squashing the note into a single summary, the model keeps a separate attention distribution for each of the 50 codes, so each code decides for itself which parts of the note to focus on. The heart-failure code attends to ejection fraction and edema; the diabetes code attends to glucose and insulin. Each code's focused summary passes through a sigmoid that outputs a probability. This is the CAML architecture, convolutional attention for multi-label classification, from Mullenbach and colleagues, 2018.</a:t>
            </a:r>
          </a:p>
          <a:p/>
          <a:p>
            <a:r>
              <a:t>It is a genuine convolutional network, yet it trains from scratch on a CPU in about 16 minutes. And because the attention is explicit, the phrases it attended to for each code are available essentially for free.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comparison, read honestly: on micro-F1, which is dominated by the frequent codes, the CNN edges the baseline (0.614 versus 0.602). The lesson is that a well-tuned bag-of-words model is a strong opponent, and a convolutional network does not automatically blow it away.</a:t>
            </a:r>
          </a:p>
          <a:p/>
          <a:p>
            <a:r>
              <a:t>On macro-F1, which weights every code equally and so rewards handling the rarer codes, the tuned linear baseline is actually a touch stronger (0.533 versus 0.515), a fair result given that only the first 1,500 words are read on a benchmark-sized sample. Precision@5 is 0.529 for the CNN versus 0.520 for the baseline, so the top few suggestions are about as trustworthy either way.</a:t>
            </a:r>
          </a:p>
          <a:p/>
          <a:p>
            <a:r>
              <a:t>The takeaway is not that the deep model wins on the scoreboard. It is that the two are competitive on accuracy, and the deep model brings something the baseline cannot: the phrases it attended to for every prediction, covered on the next slide. In a clinical setting, that can matter as much as a decimal place of F1.</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payoff of per-label attention. For a representative discharge summary, each predicted code is paired with the phrase its attention focused on most. The panel shows the predicted codes, whether each is actually a coded diagnosis, and a representative snippet for each.</a:t>
            </a:r>
          </a:p>
          <a:p/>
          <a:p>
            <a:r>
              <a:t>This changes what the output offers. The baseline can report that it predicts acute kidney failure, but not why. The CNN effectively says it predicts hypothyroidism because it read levothyroxine in the note. A human coder can confirm or override in seconds, which is exactly how a decision-support tool should behave. When the model is wrong, as in the sepsis row, driven by infection and antibiotic language, the highlighted phrase immediately shows why it was fooled, which makes debugging far easier.</a:t>
            </a:r>
          </a:p>
          <a:p/>
          <a:p>
            <a:r>
              <a:t>In healthcare specifically, a prediction a clinician cannot interrogate is hard to trust and hard to deploy. An accurate model that also points to its evidence is a far more useful object than a black box with the same score.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Every honest tutorial states what it does not show; there are five such limits here.</a:t>
            </a:r>
          </a:p>
          <a:p>
            <a:endParaRPr dirty="0"/>
          </a:p>
          <a:p>
            <a:r>
              <a:rPr dirty="0"/>
              <a:t>Scope: only the 50 most frequent codes were used, on a benchmark-sized sample. Production coding covers thousands of codes, including rare ones that carry the most financial and clinical weight, and those are much harder.</a:t>
            </a:r>
          </a:p>
          <a:p>
            <a:endParaRPr dirty="0"/>
          </a:p>
          <a:p>
            <a:r>
              <a:rPr dirty="0"/>
              <a:t>Truncation: to keep training fast on a CPU, the CNN reads only the first 1,500 words. Discharge summaries often place the diagnosis list near the end, so some of the most predictive text may be discarded; reading the full note is a clear next improvement.</a:t>
            </a:r>
          </a:p>
          <a:p>
            <a:endParaRPr dirty="0"/>
          </a:p>
          <a:p>
            <a:r>
              <a:rPr dirty="0"/>
              <a:t>Label quality: the ICD codes used for training are billing codes entered by humans who disagree with one another. They are not perfect ground truth, which caps any model measured against them.</a:t>
            </a:r>
          </a:p>
          <a:p>
            <a:endParaRPr dirty="0"/>
          </a:p>
          <a:p>
            <a:r>
              <a:rPr dirty="0"/>
              <a:t>Intended use: this is a suggestion tool, a ranked first pass for a human coder to confirm. It is not an autonomous biller and not a clinical device.</a:t>
            </a:r>
          </a:p>
          <a:p>
            <a:endParaRPr dirty="0"/>
          </a:p>
          <a:p>
            <a:r>
              <a:rPr dirty="0"/>
              <a:t>Generalization: everything here is based on MIMIC-III intensive-care notes from a single hospital, so another hospital or ward would require revalidation. Stating these limits plainly is part of doing the work well.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Reproducibility matters, because a tutorial that cannot be rebuilt is not really a tutorial. The process takes three steps. First, get MIMIC-III from PhysioNet, which requires free credentialing, and drop the three CSVs into the data folder. Second, install the handful of Python packages listed in requirements. Third, run the notebook from top to bottom: it builds the cohort, trains the baseline and the CNN, evaluates both, and writes every figure used in the tutorial.</a:t>
            </a:r>
          </a:p>
          <a:p/>
          <a:p>
            <a:r>
              <a:t>The whole thing runs on an ordinary CPU in about twenty minutes. The bar at the bottom shows the arc of the tutorial in one line: from a note, to a cohort, through cleaning and metrics, to a baseline, to the CNN with attention, to results, and finally to an explanation. If someone can follow that arc and rerun it, the tutorial has done its job.</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the arc: it began with a real clinical chore, medical coding, and turned it into a well-posed machine-learning problem: read a discharge summary and output the ICD codes that apply. The data was built carefully, splitting by patient to avoid self-deception, and the metrics, especially macro-F1 and precision at k, were chosen to reward handling the rare codes.</a:t>
            </a:r>
          </a:p>
          <a:p/>
          <a:p>
            <a:r>
              <a:t>The modeling story followed: a simple, transparent baseline first, so it was clear whether added complexity paid off, then a convolutional network with per-label attention. The result was honest: the two are close on accuracy, and only the CNN highlights the phrases it attended to for each prediction.</a:t>
            </a:r>
          </a:p>
          <a:p/>
          <a:p>
            <a:r>
              <a:t>That last point is the key takeaway: in healthcare, a model that highlights the phrases it attended to is worth more than a marginally higher score that cannot be interrogated. The aim, in one line, is to enter a discharge summary and receive ranked ICD-9 code suggestions with highlighted supporting phrases.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4779" y="1024128"/>
            <a:ext cx="6400800" cy="365760"/>
          </a:xfrm>
          <a:prstGeom prst="rect">
            <a:avLst/>
          </a:prstGeom>
          <a:noFill/>
        </p:spPr>
        <p:txBody>
          <a:bodyPr wrap="square" lIns="54864" tIns="38100" rIns="54864" bIns="38100" anchor="t">
            <a:spAutoFit/>
          </a:bodyPr>
          <a:lstStyle/>
          <a:p>
            <a:pPr algn="l">
              <a:spcAft>
                <a:spcPts val="400"/>
              </a:spcAft>
            </a:pPr>
            <a:r>
              <a:rPr sz="1300" b="1" i="0" dirty="0">
                <a:solidFill>
                  <a:srgbClr val="33B3C6"/>
                </a:solidFill>
                <a:latin typeface="Calibri"/>
              </a:rPr>
              <a:t>SELF-LEARNING TUTORIAL  ·  AI IN HEALTHCARE</a:t>
            </a:r>
          </a:p>
        </p:txBody>
      </p:sp>
      <p:sp>
        <p:nvSpPr>
          <p:cNvPr id="7" name="TextBox 6"/>
          <p:cNvSpPr txBox="1"/>
          <p:nvPr/>
        </p:nvSpPr>
        <p:spPr>
          <a:xfrm>
            <a:off x="744779" y="1946880"/>
            <a:ext cx="6341821" cy="2159566"/>
          </a:xfrm>
          <a:prstGeom prst="rect">
            <a:avLst/>
          </a:prstGeom>
          <a:noFill/>
        </p:spPr>
        <p:txBody>
          <a:bodyPr wrap="square" lIns="54864" tIns="38100" rIns="54864" bIns="38100" anchor="t">
            <a:spAutoFit/>
          </a:bodyPr>
          <a:lstStyle/>
          <a:p>
            <a:pPr algn="l">
              <a:spcAft>
                <a:spcPts val="200"/>
              </a:spcAft>
            </a:pPr>
            <a:r>
              <a:rPr sz="4400" b="0" i="0" dirty="0">
                <a:solidFill>
                  <a:srgbClr val="FFFFFF"/>
                </a:solidFill>
                <a:latin typeface="Cambria" panose="02040503050406030204" pitchFamily="18" charset="0"/>
                <a:ea typeface="Cambria" panose="02040503050406030204" pitchFamily="18" charset="0"/>
              </a:rPr>
              <a:t>Teaching a model to read</a:t>
            </a:r>
          </a:p>
          <a:p>
            <a:pPr algn="l">
              <a:spcAft>
                <a:spcPts val="200"/>
              </a:spcAft>
            </a:pPr>
            <a:r>
              <a:rPr sz="4400" b="0" i="0" dirty="0">
                <a:solidFill>
                  <a:srgbClr val="FFFFFF"/>
                </a:solidFill>
                <a:latin typeface="Cambria" panose="02040503050406030204" pitchFamily="18" charset="0"/>
                <a:ea typeface="Cambria" panose="02040503050406030204" pitchFamily="18" charset="0"/>
              </a:rPr>
              <a:t>a discharge summary and</a:t>
            </a:r>
          </a:p>
          <a:p>
            <a:pPr algn="l">
              <a:spcAft>
                <a:spcPts val="200"/>
              </a:spcAft>
            </a:pPr>
            <a:r>
              <a:rPr sz="4400" b="0" i="0" dirty="0">
                <a:solidFill>
                  <a:srgbClr val="FFFFFF"/>
                </a:solidFill>
                <a:latin typeface="Cambria" panose="02040503050406030204" pitchFamily="18" charset="0"/>
                <a:ea typeface="Cambria" panose="02040503050406030204" pitchFamily="18" charset="0"/>
              </a:rPr>
              <a:t>assign its billing codes</a:t>
            </a:r>
          </a:p>
        </p:txBody>
      </p:sp>
      <p:sp>
        <p:nvSpPr>
          <p:cNvPr id="9" name="TextBox 8"/>
          <p:cNvSpPr txBox="1"/>
          <p:nvPr/>
        </p:nvSpPr>
        <p:spPr>
          <a:xfrm>
            <a:off x="822960" y="5730601"/>
            <a:ext cx="6126480" cy="731520"/>
          </a:xfrm>
          <a:prstGeom prst="rect">
            <a:avLst/>
          </a:prstGeom>
          <a:noFill/>
        </p:spPr>
        <p:txBody>
          <a:bodyPr wrap="square" lIns="54864" tIns="38100" rIns="54864" bIns="38100" anchor="t">
            <a:spAutoFit/>
          </a:bodyPr>
          <a:lstStyle/>
          <a:p>
            <a:pPr algn="l">
              <a:spcAft>
                <a:spcPts val="200"/>
              </a:spcAft>
            </a:pPr>
            <a:r>
              <a:rPr sz="1550" b="0" i="0" dirty="0">
                <a:solidFill>
                  <a:srgbClr val="C9D6E4"/>
                </a:solidFill>
                <a:latin typeface="Calibri"/>
              </a:rPr>
              <a:t>Automated ICD-9 coding on MIMIC-III with a CNN and per-label attention</a:t>
            </a:r>
          </a:p>
        </p:txBody>
      </p:sp>
      <p:sp>
        <p:nvSpPr>
          <p:cNvPr id="10" name="TextBox 9"/>
          <p:cNvSpPr txBox="1"/>
          <p:nvPr/>
        </p:nvSpPr>
        <p:spPr>
          <a:xfrm>
            <a:off x="822960" y="6120229"/>
            <a:ext cx="7315200" cy="365760"/>
          </a:xfrm>
          <a:prstGeom prst="rect">
            <a:avLst/>
          </a:prstGeom>
          <a:noFill/>
        </p:spPr>
        <p:txBody>
          <a:bodyPr wrap="square" lIns="54864" tIns="38100" rIns="54864" bIns="38100" anchor="t">
            <a:spAutoFit/>
          </a:bodyPr>
          <a:lstStyle/>
          <a:p>
            <a:pPr algn="l">
              <a:spcAft>
                <a:spcPts val="400"/>
              </a:spcAft>
            </a:pPr>
            <a:r>
              <a:rPr sz="1250" b="1" i="0" dirty="0">
                <a:solidFill>
                  <a:srgbClr val="C9D6E4"/>
                </a:solidFill>
                <a:latin typeface="Calibri"/>
              </a:rPr>
              <a:t>A self-learning tutorial</a:t>
            </a:r>
          </a:p>
        </p:txBody>
      </p:sp>
      <p:sp>
        <p:nvSpPr>
          <p:cNvPr id="11" name="Rounded Rectangle 10"/>
          <p:cNvSpPr/>
          <p:nvPr/>
        </p:nvSpPr>
        <p:spPr>
          <a:xfrm>
            <a:off x="7452360" y="1600200"/>
            <a:ext cx="2057400" cy="2971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653528" y="1801368"/>
            <a:ext cx="1234440" cy="329184"/>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950" b="1" i="0">
                <a:solidFill>
                  <a:srgbClr val="FFFFFF"/>
                </a:solidFill>
                <a:latin typeface="Calibri"/>
              </a:rPr>
              <a:t>DISCHARGE NOTE</a:t>
            </a:r>
          </a:p>
        </p:txBody>
      </p:sp>
      <p:sp>
        <p:nvSpPr>
          <p:cNvPr id="13" name="Rectangle 12"/>
          <p:cNvSpPr/>
          <p:nvPr/>
        </p:nvSpPr>
        <p:spPr>
          <a:xfrm>
            <a:off x="7690104" y="2386584"/>
            <a:ext cx="1600200" cy="3048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90104" y="2706624"/>
            <a:ext cx="1600200" cy="3048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690104" y="3026663"/>
            <a:ext cx="1600200" cy="3048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690104" y="3346703"/>
            <a:ext cx="1600200" cy="3048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90104" y="3666744"/>
            <a:ext cx="1600200" cy="3048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90104" y="3986783"/>
            <a:ext cx="685800" cy="3048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9646920" y="2880360"/>
            <a:ext cx="457200" cy="457200"/>
          </a:xfrm>
          <a:prstGeom prst="rightArrow">
            <a:avLst/>
          </a:prstGeom>
          <a:solidFill>
            <a:srgbClr val="33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241280" y="1737360"/>
            <a:ext cx="1783080" cy="566928"/>
          </a:xfrm>
          <a:prstGeom prst="roundRect">
            <a:avLst>
              <a:gd name="adj" fmla="val 28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77856" y="1737360"/>
            <a:ext cx="1737360" cy="566928"/>
          </a:xfrm>
          <a:prstGeom prst="rect">
            <a:avLst/>
          </a:prstGeom>
          <a:noFill/>
        </p:spPr>
        <p:txBody>
          <a:bodyPr wrap="square" anchor="ctr">
            <a:spAutoFit/>
          </a:bodyPr>
          <a:lstStyle/>
          <a:p>
            <a:pPr algn="ctr"/>
            <a:r>
              <a:rPr sz="1150" b="1">
                <a:solidFill>
                  <a:srgbClr val="FFFFFF"/>
                </a:solidFill>
                <a:latin typeface="Consolas"/>
              </a:rPr>
              <a:t>4019  </a:t>
            </a:r>
            <a:r>
              <a:rPr sz="1000">
                <a:solidFill>
                  <a:srgbClr val="FFFFFF"/>
                </a:solidFill>
                <a:latin typeface="Calibri"/>
              </a:rPr>
              <a:t>Hypertension</a:t>
            </a:r>
          </a:p>
        </p:txBody>
      </p:sp>
      <p:sp>
        <p:nvSpPr>
          <p:cNvPr id="22" name="Rounded Rectangle 21"/>
          <p:cNvSpPr/>
          <p:nvPr/>
        </p:nvSpPr>
        <p:spPr>
          <a:xfrm>
            <a:off x="10241280" y="2450591"/>
            <a:ext cx="1783080" cy="566928"/>
          </a:xfrm>
          <a:prstGeom prst="roundRect">
            <a:avLst>
              <a:gd name="adj" fmla="val 28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277856" y="2450591"/>
            <a:ext cx="1737360" cy="566928"/>
          </a:xfrm>
          <a:prstGeom prst="rect">
            <a:avLst/>
          </a:prstGeom>
          <a:noFill/>
        </p:spPr>
        <p:txBody>
          <a:bodyPr wrap="square" anchor="ctr">
            <a:spAutoFit/>
          </a:bodyPr>
          <a:lstStyle/>
          <a:p>
            <a:pPr algn="ctr"/>
            <a:r>
              <a:rPr sz="1150" b="1">
                <a:solidFill>
                  <a:srgbClr val="FFFFFF"/>
                </a:solidFill>
                <a:latin typeface="Consolas"/>
              </a:rPr>
              <a:t>5849  </a:t>
            </a:r>
            <a:r>
              <a:rPr sz="1000">
                <a:solidFill>
                  <a:srgbClr val="FFFFFF"/>
                </a:solidFill>
                <a:latin typeface="Calibri"/>
              </a:rPr>
              <a:t>Kidney failure</a:t>
            </a:r>
          </a:p>
        </p:txBody>
      </p:sp>
      <p:sp>
        <p:nvSpPr>
          <p:cNvPr id="24" name="Rounded Rectangle 23"/>
          <p:cNvSpPr/>
          <p:nvPr/>
        </p:nvSpPr>
        <p:spPr>
          <a:xfrm>
            <a:off x="10241280" y="3163824"/>
            <a:ext cx="1783080" cy="566928"/>
          </a:xfrm>
          <a:prstGeom prst="roundRect">
            <a:avLst>
              <a:gd name="adj" fmla="val 28000"/>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95560" y="3304586"/>
            <a:ext cx="1088136" cy="269304"/>
          </a:xfrm>
          <a:prstGeom prst="rect">
            <a:avLst/>
          </a:prstGeom>
          <a:noFill/>
        </p:spPr>
        <p:txBody>
          <a:bodyPr wrap="square" anchor="ctr">
            <a:spAutoFit/>
          </a:bodyPr>
          <a:lstStyle/>
          <a:p>
            <a:pPr algn="ctr"/>
            <a:r>
              <a:rPr sz="1150" b="1" dirty="0">
                <a:solidFill>
                  <a:srgbClr val="0E1B2E"/>
                </a:solidFill>
                <a:latin typeface="Consolas"/>
              </a:rPr>
              <a:t>42731 </a:t>
            </a:r>
            <a:endParaRPr sz="1000" dirty="0">
              <a:solidFill>
                <a:srgbClr val="0E1B2E"/>
              </a:solidFill>
              <a:latin typeface="Calibri"/>
            </a:endParaRPr>
          </a:p>
        </p:txBody>
      </p:sp>
      <p:sp>
        <p:nvSpPr>
          <p:cNvPr id="26" name="Rounded Rectangle 25"/>
          <p:cNvSpPr/>
          <p:nvPr/>
        </p:nvSpPr>
        <p:spPr>
          <a:xfrm>
            <a:off x="10241280" y="3877056"/>
            <a:ext cx="1783080" cy="566928"/>
          </a:xfrm>
          <a:prstGeom prst="roundRect">
            <a:avLst>
              <a:gd name="adj" fmla="val 28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77856" y="3877056"/>
            <a:ext cx="1737360" cy="566928"/>
          </a:xfrm>
          <a:prstGeom prst="rect">
            <a:avLst/>
          </a:prstGeom>
          <a:noFill/>
        </p:spPr>
        <p:txBody>
          <a:bodyPr wrap="square" anchor="ctr">
            <a:spAutoFit/>
          </a:bodyPr>
          <a:lstStyle/>
          <a:p>
            <a:pPr algn="ctr"/>
            <a:r>
              <a:rPr sz="1150" b="1">
                <a:solidFill>
                  <a:srgbClr val="FFFFFF"/>
                </a:solidFill>
                <a:latin typeface="Consolas"/>
              </a:rPr>
              <a:t>2724  </a:t>
            </a:r>
            <a:r>
              <a:rPr sz="1000">
                <a:solidFill>
                  <a:srgbClr val="FFFFFF"/>
                </a:solidFill>
                <a:latin typeface="Calibri"/>
              </a:rPr>
              <a:t>Hyperlipidemia</a:t>
            </a:r>
          </a:p>
        </p:txBody>
      </p:sp>
      <p:sp>
        <p:nvSpPr>
          <p:cNvPr id="29" name="TextBox 28">
            <a:extLst>
              <a:ext uri="{FF2B5EF4-FFF2-40B4-BE49-F238E27FC236}">
                <a16:creationId xmlns:a16="http://schemas.microsoft.com/office/drawing/2014/main" id="{D1E0EF0E-3B9A-560E-E35C-07ECCDEFA18C}"/>
              </a:ext>
            </a:extLst>
          </p:cNvPr>
          <p:cNvSpPr txBox="1"/>
          <p:nvPr/>
        </p:nvSpPr>
        <p:spPr>
          <a:xfrm>
            <a:off x="10801350" y="3324177"/>
            <a:ext cx="907085" cy="246221"/>
          </a:xfrm>
          <a:prstGeom prst="rect">
            <a:avLst/>
          </a:prstGeom>
          <a:noFill/>
        </p:spPr>
        <p:txBody>
          <a:bodyPr wrap="square" anchor="ctr">
            <a:spAutoFit/>
          </a:bodyPr>
          <a:lstStyle/>
          <a:p>
            <a:pPr algn="ctr"/>
            <a:r>
              <a:rPr sz="1000" dirty="0">
                <a:solidFill>
                  <a:srgbClr val="0E1B2E"/>
                </a:solidFill>
                <a:latin typeface="Calibri"/>
              </a:rPr>
              <a:t>Atrial fib</a:t>
            </a:r>
          </a:p>
        </p:txBody>
      </p:sp>
      <p:sp>
        <p:nvSpPr>
          <p:cNvPr id="30" name="Oval 29">
            <a:extLst>
              <a:ext uri="{FF2B5EF4-FFF2-40B4-BE49-F238E27FC236}">
                <a16:creationId xmlns:a16="http://schemas.microsoft.com/office/drawing/2014/main" id="{3DECB2FC-8F8F-F0DC-7F06-E584B7862897}"/>
              </a:ext>
            </a:extLst>
          </p:cNvPr>
          <p:cNvSpPr/>
          <p:nvPr/>
        </p:nvSpPr>
        <p:spPr>
          <a:xfrm>
            <a:off x="795528" y="591030"/>
            <a:ext cx="201168" cy="201168"/>
          </a:xfrm>
          <a:prstGeom prst="ellipse">
            <a:avLst/>
          </a:prstGeom>
          <a:solidFill>
            <a:srgbClr val="C44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a:extLst>
              <a:ext uri="{FF2B5EF4-FFF2-40B4-BE49-F238E27FC236}">
                <a16:creationId xmlns:a16="http://schemas.microsoft.com/office/drawing/2014/main" id="{6FB3423B-23DA-11CC-7162-3FD1A4C19E7C}"/>
              </a:ext>
            </a:extLst>
          </p:cNvPr>
          <p:cNvSpPr/>
          <p:nvPr/>
        </p:nvSpPr>
        <p:spPr>
          <a:xfrm>
            <a:off x="1106424" y="591030"/>
            <a:ext cx="201168" cy="201168"/>
          </a:xfrm>
          <a:prstGeom prst="ellipse">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a:extLst>
              <a:ext uri="{FF2B5EF4-FFF2-40B4-BE49-F238E27FC236}">
                <a16:creationId xmlns:a16="http://schemas.microsoft.com/office/drawing/2014/main" id="{841AC0E9-0901-CF2D-CFE7-CA5AF69269A1}"/>
              </a:ext>
            </a:extLst>
          </p:cNvPr>
          <p:cNvSpPr/>
          <p:nvPr/>
        </p:nvSpPr>
        <p:spPr>
          <a:xfrm>
            <a:off x="1417320" y="591030"/>
            <a:ext cx="201168" cy="201168"/>
          </a:xfrm>
          <a:prstGeom prst="ellipse">
            <a:avLst/>
          </a:prstGeom>
          <a:solidFill>
            <a:srgbClr val="817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a:extLst>
              <a:ext uri="{FF2B5EF4-FFF2-40B4-BE49-F238E27FC236}">
                <a16:creationId xmlns:a16="http://schemas.microsoft.com/office/drawing/2014/main" id="{F23871E2-37B5-93AF-B922-D7F69C3005C2}"/>
              </a:ext>
            </a:extLst>
          </p:cNvPr>
          <p:cNvSpPr/>
          <p:nvPr/>
        </p:nvSpPr>
        <p:spPr>
          <a:xfrm>
            <a:off x="641451" y="5469523"/>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113707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01  ·  THE PROBLEM</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lgn="l">
              <a:spcAft>
                <a:spcPts val="400"/>
              </a:spcAft>
            </a:pPr>
            <a:r>
              <a:rPr sz="2800" b="0" i="0" dirty="0">
                <a:solidFill>
                  <a:srgbClr val="0E1B2E"/>
                </a:solidFill>
                <a:latin typeface="Cambria" panose="02040503050406030204" pitchFamily="18" charset="0"/>
                <a:ea typeface="Cambria" panose="02040503050406030204" pitchFamily="18" charset="0"/>
              </a:rPr>
              <a:t>Medical coding, by hand today</a:t>
            </a: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874519"/>
            <a:ext cx="10881360" cy="457200"/>
          </a:xfrm>
          <a:prstGeom prst="rect">
            <a:avLst/>
          </a:prstGeom>
          <a:noFill/>
        </p:spPr>
        <p:txBody>
          <a:bodyPr wrap="square" lIns="54864" tIns="38100" rIns="54864" bIns="38100" anchor="t">
            <a:spAutoFit/>
          </a:bodyPr>
          <a:lstStyle/>
          <a:p>
            <a:pPr algn="l">
              <a:spcAft>
                <a:spcPts val="400"/>
              </a:spcAft>
            </a:pPr>
            <a:r>
              <a:rPr sz="1500" b="0" i="0">
                <a:solidFill>
                  <a:srgbClr val="384457"/>
                </a:solidFill>
                <a:latin typeface="Calibri"/>
              </a:rPr>
              <a:t>Every hospital stay ends in a free-text discharge summary. A trained coder reads it and assigns standardized ICD codes that drive billing, quality metrics, and research cohorts.</a:t>
            </a:r>
          </a:p>
        </p:txBody>
      </p:sp>
      <p:sp>
        <p:nvSpPr>
          <p:cNvPr id="7" name="Rounded Rectangle 6"/>
          <p:cNvSpPr/>
          <p:nvPr/>
        </p:nvSpPr>
        <p:spPr>
          <a:xfrm>
            <a:off x="640080" y="2697480"/>
            <a:ext cx="3063240" cy="1371600"/>
          </a:xfrm>
          <a:prstGeom prst="roundRect">
            <a:avLst>
              <a:gd name="adj" fmla="val 5000"/>
            </a:avLst>
          </a:prstGeom>
          <a:solidFill>
            <a:srgbClr val="EEF2F7"/>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907792"/>
            <a:ext cx="2788920" cy="330860"/>
          </a:xfrm>
          <a:prstGeom prst="rect">
            <a:avLst/>
          </a:prstGeom>
          <a:noFill/>
        </p:spPr>
        <p:txBody>
          <a:bodyPr wrap="square" lIns="54864" tIns="38100" rIns="54864" bIns="38100" anchor="t">
            <a:spAutoFit/>
          </a:bodyPr>
          <a:lstStyle/>
          <a:p>
            <a:pPr algn="l">
              <a:spcAft>
                <a:spcPts val="400"/>
              </a:spcAft>
            </a:pPr>
            <a:r>
              <a:rPr sz="1650" b="1" i="0" dirty="0">
                <a:solidFill>
                  <a:srgbClr val="0E1B2E"/>
                </a:solidFill>
                <a:latin typeface="Cambria" panose="02040503050406030204" pitchFamily="18" charset="0"/>
                <a:ea typeface="Cambria" panose="02040503050406030204" pitchFamily="18" charset="0"/>
              </a:rPr>
              <a:t>Discharge summary</a:t>
            </a:r>
          </a:p>
        </p:txBody>
      </p:sp>
      <p:sp>
        <p:nvSpPr>
          <p:cNvPr id="9" name="TextBox 8"/>
          <p:cNvSpPr txBox="1"/>
          <p:nvPr/>
        </p:nvSpPr>
        <p:spPr>
          <a:xfrm>
            <a:off x="777240" y="3401568"/>
            <a:ext cx="2788920" cy="457200"/>
          </a:xfrm>
          <a:prstGeom prst="rect">
            <a:avLst/>
          </a:prstGeom>
          <a:noFill/>
        </p:spPr>
        <p:txBody>
          <a:bodyPr wrap="square" lIns="54864" tIns="38100" rIns="54864" bIns="38100" anchor="t">
            <a:spAutoFit/>
          </a:bodyPr>
          <a:lstStyle/>
          <a:p>
            <a:pPr algn="l">
              <a:spcAft>
                <a:spcPts val="400"/>
              </a:spcAft>
            </a:pPr>
            <a:r>
              <a:rPr sz="1200" b="0" i="0">
                <a:solidFill>
                  <a:srgbClr val="6B7688"/>
                </a:solidFill>
                <a:latin typeface="Calibri"/>
              </a:rPr>
              <a:t>free-text narrative</a:t>
            </a:r>
          </a:p>
        </p:txBody>
      </p:sp>
      <p:sp>
        <p:nvSpPr>
          <p:cNvPr id="10" name="Right Arrow 9"/>
          <p:cNvSpPr/>
          <p:nvPr/>
        </p:nvSpPr>
        <p:spPr>
          <a:xfrm>
            <a:off x="3767328" y="3200400"/>
            <a:ext cx="384048" cy="365760"/>
          </a:xfrm>
          <a:prstGeom prst="rightArrow">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06240" y="2697480"/>
            <a:ext cx="3063240" cy="1371600"/>
          </a:xfrm>
          <a:prstGeom prst="roundRect">
            <a:avLst>
              <a:gd name="adj" fmla="val 5000"/>
            </a:avLst>
          </a:prstGeom>
          <a:solidFill>
            <a:srgbClr val="1F7A8C"/>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0" y="2907792"/>
            <a:ext cx="2788920" cy="330860"/>
          </a:xfrm>
          <a:prstGeom prst="rect">
            <a:avLst/>
          </a:prstGeom>
          <a:noFill/>
        </p:spPr>
        <p:txBody>
          <a:bodyPr wrap="square" lIns="54864" tIns="38100" rIns="54864" bIns="38100" anchor="t">
            <a:spAutoFit/>
          </a:bodyPr>
          <a:lstStyle/>
          <a:p>
            <a:pPr algn="l">
              <a:spcAft>
                <a:spcPts val="400"/>
              </a:spcAft>
            </a:pPr>
            <a:r>
              <a:rPr sz="1650" b="1" i="0" dirty="0">
                <a:solidFill>
                  <a:srgbClr val="FFFFFF"/>
                </a:solidFill>
                <a:latin typeface="Cambria" panose="02040503050406030204" pitchFamily="18" charset="0"/>
                <a:ea typeface="Cambria" panose="02040503050406030204" pitchFamily="18" charset="0"/>
              </a:rPr>
              <a:t>Human coder</a:t>
            </a:r>
          </a:p>
        </p:txBody>
      </p:sp>
      <p:sp>
        <p:nvSpPr>
          <p:cNvPr id="13" name="TextBox 12"/>
          <p:cNvSpPr txBox="1"/>
          <p:nvPr/>
        </p:nvSpPr>
        <p:spPr>
          <a:xfrm>
            <a:off x="4343400" y="3401568"/>
            <a:ext cx="2788920" cy="457200"/>
          </a:xfrm>
          <a:prstGeom prst="rect">
            <a:avLst/>
          </a:prstGeom>
          <a:noFill/>
        </p:spPr>
        <p:txBody>
          <a:bodyPr wrap="square" lIns="54864" tIns="38100" rIns="54864" bIns="38100" anchor="t">
            <a:spAutoFit/>
          </a:bodyPr>
          <a:lstStyle/>
          <a:p>
            <a:pPr algn="l">
              <a:spcAft>
                <a:spcPts val="400"/>
              </a:spcAft>
            </a:pPr>
            <a:r>
              <a:rPr sz="1200" b="0" i="0">
                <a:solidFill>
                  <a:srgbClr val="C9D6E4"/>
                </a:solidFill>
                <a:latin typeface="Calibri"/>
              </a:rPr>
              <a:t>reads and interprets</a:t>
            </a:r>
          </a:p>
        </p:txBody>
      </p:sp>
      <p:sp>
        <p:nvSpPr>
          <p:cNvPr id="14" name="Right Arrow 13"/>
          <p:cNvSpPr/>
          <p:nvPr/>
        </p:nvSpPr>
        <p:spPr>
          <a:xfrm>
            <a:off x="7333488" y="3200400"/>
            <a:ext cx="384048" cy="365760"/>
          </a:xfrm>
          <a:prstGeom prst="rightArrow">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772400" y="2697480"/>
            <a:ext cx="3063240" cy="1371600"/>
          </a:xfrm>
          <a:prstGeom prst="roundRect">
            <a:avLst>
              <a:gd name="adj" fmla="val 5000"/>
            </a:avLst>
          </a:prstGeom>
          <a:solidFill>
            <a:srgbClr val="16294A"/>
          </a:solidFill>
          <a:ln w="12700">
            <a:solidFill>
              <a:srgbClr val="16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09560" y="2907792"/>
            <a:ext cx="2788920" cy="330860"/>
          </a:xfrm>
          <a:prstGeom prst="rect">
            <a:avLst/>
          </a:prstGeom>
          <a:noFill/>
        </p:spPr>
        <p:txBody>
          <a:bodyPr wrap="square" lIns="54864" tIns="38100" rIns="54864" bIns="38100" anchor="t">
            <a:spAutoFit/>
          </a:bodyPr>
          <a:lstStyle/>
          <a:p>
            <a:pPr algn="l">
              <a:spcAft>
                <a:spcPts val="400"/>
              </a:spcAft>
            </a:pPr>
            <a:r>
              <a:rPr sz="1650" b="1" i="0" dirty="0">
                <a:solidFill>
                  <a:srgbClr val="FFFFFF"/>
                </a:solidFill>
                <a:latin typeface="Cambria" panose="02040503050406030204" pitchFamily="18" charset="0"/>
                <a:ea typeface="Cambria" panose="02040503050406030204" pitchFamily="18" charset="0"/>
              </a:rPr>
              <a:t>ICD-9 codes</a:t>
            </a:r>
          </a:p>
        </p:txBody>
      </p:sp>
      <p:sp>
        <p:nvSpPr>
          <p:cNvPr id="17" name="TextBox 16"/>
          <p:cNvSpPr txBox="1"/>
          <p:nvPr/>
        </p:nvSpPr>
        <p:spPr>
          <a:xfrm>
            <a:off x="7909560" y="3401568"/>
            <a:ext cx="2788920" cy="457200"/>
          </a:xfrm>
          <a:prstGeom prst="rect">
            <a:avLst/>
          </a:prstGeom>
          <a:noFill/>
        </p:spPr>
        <p:txBody>
          <a:bodyPr wrap="square" lIns="54864" tIns="38100" rIns="54864" bIns="38100" anchor="t">
            <a:spAutoFit/>
          </a:bodyPr>
          <a:lstStyle/>
          <a:p>
            <a:pPr algn="l">
              <a:spcAft>
                <a:spcPts val="400"/>
              </a:spcAft>
            </a:pPr>
            <a:r>
              <a:rPr sz="1200" b="0" i="0">
                <a:solidFill>
                  <a:srgbClr val="C9D6E4"/>
                </a:solidFill>
                <a:latin typeface="Calibri"/>
              </a:rPr>
              <a:t>4019 · 4280 · 5849</a:t>
            </a:r>
          </a:p>
        </p:txBody>
      </p:sp>
      <p:sp>
        <p:nvSpPr>
          <p:cNvPr id="18" name="Rectangle 17"/>
          <p:cNvSpPr/>
          <p:nvPr/>
        </p:nvSpPr>
        <p:spPr>
          <a:xfrm>
            <a:off x="640080" y="4892040"/>
            <a:ext cx="82296" cy="475488"/>
          </a:xfrm>
          <a:prstGeom prst="rect">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873752"/>
            <a:ext cx="10424160" cy="548640"/>
          </a:xfrm>
          <a:prstGeom prst="rect">
            <a:avLst/>
          </a:prstGeom>
          <a:noFill/>
        </p:spPr>
        <p:txBody>
          <a:bodyPr wrap="square" lIns="54864" tIns="38100" rIns="54864" bIns="38100" anchor="ctr">
            <a:spAutoFit/>
          </a:bodyPr>
          <a:lstStyle/>
          <a:p>
            <a:pPr algn="l">
              <a:spcAft>
                <a:spcPts val="400"/>
              </a:spcAft>
            </a:pPr>
            <a:r>
              <a:rPr sz="1350" b="0" i="0">
                <a:solidFill>
                  <a:srgbClr val="0E1B2E"/>
                </a:solidFill>
                <a:latin typeface="Calibri"/>
              </a:rPr>
              <a:t>Manual coding is slow, costly, and inconsistent between coders: a natural target for machine learning.</a:t>
            </a:r>
          </a:p>
        </p:txBody>
      </p:sp>
      <p:sp>
        <p:nvSpPr>
          <p:cNvPr id="20" name="Rectangle 19"/>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22" name="TextBox 21"/>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01 / 11</a:t>
            </a:r>
          </a:p>
        </p:txBody>
      </p:sp>
    </p:spTree>
    <p:extLst>
      <p:ext uri="{BB962C8B-B14F-4D97-AF65-F5344CB8AC3E}">
        <p14:creationId xmlns:p14="http://schemas.microsoft.com/office/powerpoint/2010/main" val="2064680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02  ·  THE TASK</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lgn="l">
              <a:spcAft>
                <a:spcPts val="400"/>
              </a:spcAft>
            </a:pPr>
            <a:r>
              <a:rPr sz="2800" b="0" i="0" dirty="0">
                <a:solidFill>
                  <a:srgbClr val="0E1B2E"/>
                </a:solidFill>
                <a:latin typeface="Cambria" panose="02040503050406030204" pitchFamily="18" charset="0"/>
                <a:ea typeface="Cambria" panose="02040503050406030204" pitchFamily="18" charset="0"/>
              </a:rPr>
              <a:t>Framed as machine learning</a:t>
            </a: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874519"/>
            <a:ext cx="5074920" cy="3977639"/>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057400"/>
            <a:ext cx="4663440" cy="365760"/>
          </a:xfrm>
          <a:prstGeom prst="rect">
            <a:avLst/>
          </a:prstGeom>
          <a:noFill/>
        </p:spPr>
        <p:txBody>
          <a:bodyPr wrap="square" lIns="54864" tIns="38100" rIns="54864" bIns="38100" anchor="t">
            <a:spAutoFit/>
          </a:bodyPr>
          <a:lstStyle/>
          <a:p>
            <a:pPr algn="l">
              <a:spcAft>
                <a:spcPts val="400"/>
              </a:spcAft>
            </a:pPr>
            <a:r>
              <a:rPr sz="1200" b="1" i="0">
                <a:solidFill>
                  <a:srgbClr val="1F7A8C"/>
                </a:solidFill>
                <a:latin typeface="Calibri"/>
              </a:rPr>
              <a:t>ONE NOTE  →  A SET OF CODES</a:t>
            </a:r>
          </a:p>
        </p:txBody>
      </p:sp>
      <p:sp>
        <p:nvSpPr>
          <p:cNvPr id="8" name="TextBox 7"/>
          <p:cNvSpPr txBox="1"/>
          <p:nvPr/>
        </p:nvSpPr>
        <p:spPr>
          <a:xfrm>
            <a:off x="868680" y="2487168"/>
            <a:ext cx="4663440" cy="3108960"/>
          </a:xfrm>
          <a:prstGeom prst="rect">
            <a:avLst/>
          </a:prstGeom>
          <a:noFill/>
        </p:spPr>
        <p:txBody>
          <a:bodyPr wrap="square" lIns="54864" rIns="54864" anchor="t">
            <a:spAutoFit/>
          </a:bodyPr>
          <a:lstStyle/>
          <a:p>
            <a:pPr algn="l">
              <a:spcAft>
                <a:spcPts val="1000"/>
              </a:spcAft>
            </a:pPr>
            <a:r>
              <a:rPr sz="1400" b="1" i="0">
                <a:solidFill>
                  <a:srgbClr val="0E1B2E"/>
                </a:solidFill>
                <a:latin typeface="Calibri"/>
              </a:rPr>
              <a:t>Input  </a:t>
            </a:r>
            <a:r>
              <a:rPr sz="1400" b="0" i="0">
                <a:solidFill>
                  <a:srgbClr val="384457"/>
                </a:solidFill>
                <a:latin typeface="Calibri"/>
              </a:rPr>
              <a:t>the text of one discharge summary.</a:t>
            </a:r>
          </a:p>
          <a:p>
            <a:pPr algn="l">
              <a:spcAft>
                <a:spcPts val="1000"/>
              </a:spcAft>
            </a:pPr>
            <a:r>
              <a:rPr sz="1400" b="1" i="0">
                <a:solidFill>
                  <a:srgbClr val="0E1B2E"/>
                </a:solidFill>
                <a:latin typeface="Calibri"/>
              </a:rPr>
              <a:t>Output  </a:t>
            </a:r>
            <a:r>
              <a:rPr sz="1400" b="0" i="0">
                <a:solidFill>
                  <a:srgbClr val="384457"/>
                </a:solidFill>
                <a:latin typeface="Calibri"/>
              </a:rPr>
              <a:t>which of the 50 codes apply.</a:t>
            </a:r>
          </a:p>
          <a:p>
            <a:pPr algn="l">
              <a:spcAft>
                <a:spcPts val="1000"/>
              </a:spcAft>
            </a:pPr>
            <a:r>
              <a:rPr sz="1400" b="0" i="0">
                <a:solidFill>
                  <a:srgbClr val="384457"/>
                </a:solidFill>
                <a:latin typeface="Calibri"/>
              </a:rPr>
              <a:t>This is </a:t>
            </a:r>
            <a:r>
              <a:rPr sz="1400" b="1" i="0">
                <a:solidFill>
                  <a:srgbClr val="1F7A8C"/>
                </a:solidFill>
                <a:latin typeface="Calibri"/>
              </a:rPr>
              <a:t>multi-label</a:t>
            </a:r>
            <a:r>
              <a:rPr sz="1400" b="0" i="0">
                <a:solidFill>
                  <a:srgbClr val="384457"/>
                </a:solidFill>
                <a:latin typeface="Calibri"/>
              </a:rPr>
              <a:t> classification: a note carries many codes at once,</a:t>
            </a:r>
          </a:p>
          <a:p>
            <a:pPr algn="l">
              <a:spcAft>
                <a:spcPts val="1000"/>
              </a:spcAft>
            </a:pPr>
            <a:r>
              <a:rPr sz="1400" b="0" i="0">
                <a:solidFill>
                  <a:srgbClr val="384457"/>
                </a:solidFill>
                <a:latin typeface="Calibri"/>
              </a:rPr>
              <a:t>about </a:t>
            </a:r>
            <a:r>
              <a:rPr sz="1400" b="1" i="0">
                <a:solidFill>
                  <a:srgbClr val="0E1B2E"/>
                </a:solidFill>
                <a:latin typeface="Calibri"/>
              </a:rPr>
              <a:t>4.7 of the top-50 codes per note on average.</a:t>
            </a:r>
          </a:p>
          <a:p>
            <a:pPr algn="l">
              <a:spcAft>
                <a:spcPts val="1000"/>
              </a:spcAft>
            </a:pPr>
            <a:r>
              <a:rPr sz="1350" b="0" i="1">
                <a:solidFill>
                  <a:srgbClr val="6B7688"/>
                </a:solidFill>
                <a:latin typeface="Calibri"/>
              </a:rPr>
              <a:t>Not multi-class: the codes are not mutually exclusive.</a:t>
            </a:r>
          </a:p>
        </p:txBody>
      </p:sp>
      <p:sp>
        <p:nvSpPr>
          <p:cNvPr id="9" name="TextBox 8"/>
          <p:cNvSpPr txBox="1"/>
          <p:nvPr/>
        </p:nvSpPr>
        <p:spPr>
          <a:xfrm>
            <a:off x="5989320" y="1828800"/>
            <a:ext cx="5577840" cy="261610"/>
          </a:xfrm>
          <a:prstGeom prst="rect">
            <a:avLst/>
          </a:prstGeom>
          <a:noFill/>
        </p:spPr>
        <p:txBody>
          <a:bodyPr wrap="square" lIns="54864" tIns="38100" rIns="54864" bIns="38100" anchor="t">
            <a:spAutoFit/>
          </a:bodyPr>
          <a:lstStyle/>
          <a:p>
            <a:pPr algn="l">
              <a:spcAft>
                <a:spcPts val="400"/>
              </a:spcAft>
            </a:pPr>
            <a:r>
              <a:rPr sz="1200" b="0" i="0">
                <a:solidFill>
                  <a:srgbClr val="6B7688"/>
                </a:solidFill>
                <a:latin typeface="Calibri"/>
              </a:rPr>
              <a:t>The 50 most frequent codes (the top-50 MIMIC-III benchmark-style task)</a:t>
            </a:r>
          </a:p>
        </p:txBody>
      </p:sp>
      <p:pic>
        <p:nvPicPr>
          <p:cNvPr id="10" name="Picture 9" descr="fig_labels.png"/>
          <p:cNvPicPr>
            <a:picLocks noChangeAspect="1"/>
          </p:cNvPicPr>
          <p:nvPr/>
        </p:nvPicPr>
        <p:blipFill>
          <a:blip r:embed="rId3"/>
          <a:stretch>
            <a:fillRect/>
          </a:stretch>
        </p:blipFill>
        <p:spPr>
          <a:xfrm>
            <a:off x="5943600" y="2148840"/>
            <a:ext cx="5623560" cy="3465608"/>
          </a:xfrm>
          <a:prstGeom prst="rect">
            <a:avLst/>
          </a:prstGeom>
        </p:spPr>
      </p:pic>
      <p:sp>
        <p:nvSpPr>
          <p:cNvPr id="11" name="Rectangle 10"/>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13" name="TextBox 12"/>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02 / 11</a:t>
            </a:r>
          </a:p>
        </p:txBody>
      </p:sp>
    </p:spTree>
    <p:extLst>
      <p:ext uri="{BB962C8B-B14F-4D97-AF65-F5344CB8AC3E}">
        <p14:creationId xmlns:p14="http://schemas.microsoft.com/office/powerpoint/2010/main" val="2695862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03  ·  THE DATA</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lgn="l">
              <a:spcAft>
                <a:spcPts val="400"/>
              </a:spcAft>
            </a:pPr>
            <a:r>
              <a:rPr sz="2800" b="0" i="0" dirty="0">
                <a:solidFill>
                  <a:srgbClr val="0E1B2E"/>
                </a:solidFill>
                <a:latin typeface="Cambria" panose="02040503050406030204" pitchFamily="18" charset="0"/>
                <a:ea typeface="Cambria" panose="02040503050406030204" pitchFamily="18" charset="0"/>
              </a:rPr>
              <a:t>Building a patient-safe cohort</a:t>
            </a: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874519"/>
            <a:ext cx="2514600" cy="1234440"/>
          </a:xfrm>
          <a:prstGeom prst="roundRect">
            <a:avLst>
              <a:gd name="adj" fmla="val 9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993391"/>
            <a:ext cx="2240280" cy="640080"/>
          </a:xfrm>
          <a:prstGeom prst="rect">
            <a:avLst/>
          </a:prstGeom>
          <a:noFill/>
        </p:spPr>
        <p:txBody>
          <a:bodyPr wrap="square" lIns="54864" tIns="38100" rIns="54864" bIns="38100" anchor="t">
            <a:spAutoFit/>
          </a:bodyPr>
          <a:lstStyle/>
          <a:p>
            <a:pPr algn="l">
              <a:spcAft>
                <a:spcPts val="400"/>
              </a:spcAft>
            </a:pPr>
            <a:r>
              <a:rPr sz="3000" b="0" i="0">
                <a:solidFill>
                  <a:srgbClr val="0E1B2E"/>
                </a:solidFill>
                <a:latin typeface="Calibri Light"/>
              </a:rPr>
              <a:t>16,410</a:t>
            </a:r>
          </a:p>
        </p:txBody>
      </p:sp>
      <p:sp>
        <p:nvSpPr>
          <p:cNvPr id="8" name="Rectangle 7"/>
          <p:cNvSpPr/>
          <p:nvPr/>
        </p:nvSpPr>
        <p:spPr>
          <a:xfrm>
            <a:off x="813815" y="2542032"/>
            <a:ext cx="420624" cy="320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651760"/>
            <a:ext cx="2240280" cy="384048"/>
          </a:xfrm>
          <a:prstGeom prst="rect">
            <a:avLst/>
          </a:prstGeom>
          <a:noFill/>
        </p:spPr>
        <p:txBody>
          <a:bodyPr wrap="square" lIns="54864" tIns="38100" rIns="54864" bIns="38100" anchor="t">
            <a:spAutoFit/>
          </a:bodyPr>
          <a:lstStyle/>
          <a:p>
            <a:pPr algn="l">
              <a:spcAft>
                <a:spcPts val="400"/>
              </a:spcAft>
            </a:pPr>
            <a:r>
              <a:rPr sz="1100" b="0" i="0">
                <a:solidFill>
                  <a:srgbClr val="6B7688"/>
                </a:solidFill>
                <a:latin typeface="Calibri"/>
              </a:rPr>
              <a:t>discharge summaries</a:t>
            </a:r>
          </a:p>
        </p:txBody>
      </p:sp>
      <p:sp>
        <p:nvSpPr>
          <p:cNvPr id="10" name="Rounded Rectangle 9"/>
          <p:cNvSpPr/>
          <p:nvPr/>
        </p:nvSpPr>
        <p:spPr>
          <a:xfrm>
            <a:off x="3438144" y="1874519"/>
            <a:ext cx="2514600" cy="1234440"/>
          </a:xfrm>
          <a:prstGeom prst="roundRect">
            <a:avLst>
              <a:gd name="adj" fmla="val 9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84448" y="1993391"/>
            <a:ext cx="2240280" cy="640080"/>
          </a:xfrm>
          <a:prstGeom prst="rect">
            <a:avLst/>
          </a:prstGeom>
          <a:noFill/>
        </p:spPr>
        <p:txBody>
          <a:bodyPr wrap="square" lIns="54864" tIns="38100" rIns="54864" bIns="38100" anchor="t">
            <a:spAutoFit/>
          </a:bodyPr>
          <a:lstStyle/>
          <a:p>
            <a:pPr algn="l">
              <a:spcAft>
                <a:spcPts val="400"/>
              </a:spcAft>
            </a:pPr>
            <a:r>
              <a:rPr sz="3000" b="0" i="0">
                <a:solidFill>
                  <a:srgbClr val="0E1B2E"/>
                </a:solidFill>
                <a:latin typeface="Calibri Light"/>
              </a:rPr>
              <a:t>12,687</a:t>
            </a:r>
          </a:p>
        </p:txBody>
      </p:sp>
      <p:sp>
        <p:nvSpPr>
          <p:cNvPr id="12" name="Rectangle 11"/>
          <p:cNvSpPr/>
          <p:nvPr/>
        </p:nvSpPr>
        <p:spPr>
          <a:xfrm>
            <a:off x="3611879" y="2542032"/>
            <a:ext cx="420624" cy="320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93591" y="2651760"/>
            <a:ext cx="2240280" cy="384048"/>
          </a:xfrm>
          <a:prstGeom prst="rect">
            <a:avLst/>
          </a:prstGeom>
          <a:noFill/>
        </p:spPr>
        <p:txBody>
          <a:bodyPr wrap="square" lIns="54864" tIns="38100" rIns="54864" bIns="38100" anchor="t">
            <a:spAutoFit/>
          </a:bodyPr>
          <a:lstStyle/>
          <a:p>
            <a:pPr algn="l">
              <a:spcAft>
                <a:spcPts val="400"/>
              </a:spcAft>
            </a:pPr>
            <a:r>
              <a:rPr sz="1100" b="0" i="0">
                <a:solidFill>
                  <a:srgbClr val="6B7688"/>
                </a:solidFill>
                <a:latin typeface="Calibri"/>
              </a:rPr>
              <a:t>unique patients</a:t>
            </a:r>
          </a:p>
        </p:txBody>
      </p:sp>
      <p:sp>
        <p:nvSpPr>
          <p:cNvPr id="14" name="Rounded Rectangle 13"/>
          <p:cNvSpPr/>
          <p:nvPr/>
        </p:nvSpPr>
        <p:spPr>
          <a:xfrm>
            <a:off x="6236208" y="1874519"/>
            <a:ext cx="2514600" cy="1234440"/>
          </a:xfrm>
          <a:prstGeom prst="roundRect">
            <a:avLst>
              <a:gd name="adj" fmla="val 9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82512" y="1993391"/>
            <a:ext cx="2240280" cy="640080"/>
          </a:xfrm>
          <a:prstGeom prst="rect">
            <a:avLst/>
          </a:prstGeom>
          <a:noFill/>
        </p:spPr>
        <p:txBody>
          <a:bodyPr wrap="square" lIns="54864" tIns="38100" rIns="54864" bIns="38100" anchor="t">
            <a:spAutoFit/>
          </a:bodyPr>
          <a:lstStyle/>
          <a:p>
            <a:pPr algn="l">
              <a:spcAft>
                <a:spcPts val="400"/>
              </a:spcAft>
            </a:pPr>
            <a:r>
              <a:rPr sz="3000" b="0" i="0">
                <a:solidFill>
                  <a:srgbClr val="0E1B2E"/>
                </a:solidFill>
                <a:latin typeface="Calibri Light"/>
              </a:rPr>
              <a:t>50</a:t>
            </a:r>
          </a:p>
        </p:txBody>
      </p:sp>
      <p:sp>
        <p:nvSpPr>
          <p:cNvPr id="16" name="Rectangle 15"/>
          <p:cNvSpPr/>
          <p:nvPr/>
        </p:nvSpPr>
        <p:spPr>
          <a:xfrm>
            <a:off x="6409944" y="2542032"/>
            <a:ext cx="420624" cy="32004"/>
          </a:xfrm>
          <a:prstGeom prst="rect">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91656" y="2651760"/>
            <a:ext cx="2240280" cy="384048"/>
          </a:xfrm>
          <a:prstGeom prst="rect">
            <a:avLst/>
          </a:prstGeom>
          <a:noFill/>
        </p:spPr>
        <p:txBody>
          <a:bodyPr wrap="square" lIns="54864" tIns="38100" rIns="54864" bIns="38100" anchor="t">
            <a:spAutoFit/>
          </a:bodyPr>
          <a:lstStyle/>
          <a:p>
            <a:pPr algn="l">
              <a:spcAft>
                <a:spcPts val="400"/>
              </a:spcAft>
            </a:pPr>
            <a:r>
              <a:rPr sz="1100" b="0" i="0">
                <a:solidFill>
                  <a:srgbClr val="6B7688"/>
                </a:solidFill>
                <a:latin typeface="Calibri"/>
              </a:rPr>
              <a:t>ICD-9 codes</a:t>
            </a:r>
          </a:p>
        </p:txBody>
      </p:sp>
      <p:sp>
        <p:nvSpPr>
          <p:cNvPr id="18" name="Rounded Rectangle 17"/>
          <p:cNvSpPr/>
          <p:nvPr/>
        </p:nvSpPr>
        <p:spPr>
          <a:xfrm>
            <a:off x="9034272" y="1874519"/>
            <a:ext cx="2514600" cy="1234440"/>
          </a:xfrm>
          <a:prstGeom prst="roundRect">
            <a:avLst>
              <a:gd name="adj" fmla="val 9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80576" y="1993391"/>
            <a:ext cx="2240280" cy="640080"/>
          </a:xfrm>
          <a:prstGeom prst="rect">
            <a:avLst/>
          </a:prstGeom>
          <a:noFill/>
        </p:spPr>
        <p:txBody>
          <a:bodyPr wrap="square" lIns="54864" tIns="38100" rIns="54864" bIns="38100" anchor="t">
            <a:spAutoFit/>
          </a:bodyPr>
          <a:lstStyle/>
          <a:p>
            <a:pPr algn="l">
              <a:spcAft>
                <a:spcPts val="400"/>
              </a:spcAft>
            </a:pPr>
            <a:r>
              <a:rPr sz="3000" b="0" i="0">
                <a:solidFill>
                  <a:srgbClr val="0E1B2E"/>
                </a:solidFill>
                <a:latin typeface="Calibri Light"/>
              </a:rPr>
              <a:t>1,367</a:t>
            </a:r>
          </a:p>
        </p:txBody>
      </p:sp>
      <p:sp>
        <p:nvSpPr>
          <p:cNvPr id="20" name="Rectangle 19"/>
          <p:cNvSpPr/>
          <p:nvPr/>
        </p:nvSpPr>
        <p:spPr>
          <a:xfrm>
            <a:off x="9208008" y="2542032"/>
            <a:ext cx="420624" cy="320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89720" y="2651760"/>
            <a:ext cx="2240280" cy="384048"/>
          </a:xfrm>
          <a:prstGeom prst="rect">
            <a:avLst/>
          </a:prstGeom>
          <a:noFill/>
        </p:spPr>
        <p:txBody>
          <a:bodyPr wrap="square" lIns="54864" tIns="38100" rIns="54864" bIns="38100" anchor="t">
            <a:spAutoFit/>
          </a:bodyPr>
          <a:lstStyle/>
          <a:p>
            <a:pPr algn="l">
              <a:spcAft>
                <a:spcPts val="400"/>
              </a:spcAft>
            </a:pPr>
            <a:r>
              <a:rPr sz="1100" b="0" i="0">
                <a:solidFill>
                  <a:srgbClr val="6B7688"/>
                </a:solidFill>
                <a:latin typeface="Calibri"/>
              </a:rPr>
              <a:t>median words / note</a:t>
            </a:r>
          </a:p>
        </p:txBody>
      </p:sp>
      <p:sp>
        <p:nvSpPr>
          <p:cNvPr id="22" name="TextBox 21"/>
          <p:cNvSpPr txBox="1"/>
          <p:nvPr/>
        </p:nvSpPr>
        <p:spPr>
          <a:xfrm>
            <a:off x="640080" y="3429000"/>
            <a:ext cx="5486400" cy="261610"/>
          </a:xfrm>
          <a:prstGeom prst="rect">
            <a:avLst/>
          </a:prstGeom>
          <a:noFill/>
        </p:spPr>
        <p:txBody>
          <a:bodyPr wrap="square" lIns="54864" tIns="38100" rIns="54864" bIns="38100" anchor="t">
            <a:spAutoFit/>
          </a:bodyPr>
          <a:lstStyle/>
          <a:p>
            <a:pPr algn="l">
              <a:spcAft>
                <a:spcPts val="400"/>
              </a:spcAft>
            </a:pPr>
            <a:r>
              <a:rPr sz="1200" b="1" i="0" dirty="0">
                <a:solidFill>
                  <a:srgbClr val="1F7A8C"/>
                </a:solidFill>
                <a:latin typeface="Cambria" panose="02040503050406030204" pitchFamily="18" charset="0"/>
                <a:ea typeface="Cambria" panose="02040503050406030204" pitchFamily="18" charset="0"/>
              </a:rPr>
              <a:t>THREE MIMIC-III TABLES</a:t>
            </a:r>
          </a:p>
        </p:txBody>
      </p:sp>
      <p:sp>
        <p:nvSpPr>
          <p:cNvPr id="23" name="TextBox 22"/>
          <p:cNvSpPr txBox="1"/>
          <p:nvPr/>
        </p:nvSpPr>
        <p:spPr>
          <a:xfrm>
            <a:off x="640080" y="3767328"/>
            <a:ext cx="5577840" cy="2011680"/>
          </a:xfrm>
          <a:prstGeom prst="rect">
            <a:avLst/>
          </a:prstGeom>
          <a:noFill/>
        </p:spPr>
        <p:txBody>
          <a:bodyPr wrap="square" lIns="54864" rIns="54864" anchor="t">
            <a:spAutoFit/>
          </a:bodyPr>
          <a:lstStyle/>
          <a:p>
            <a:pPr algn="l">
              <a:spcAft>
                <a:spcPts val="1200"/>
              </a:spcAft>
            </a:pPr>
            <a:r>
              <a:rPr sz="1350" b="1" i="0">
                <a:solidFill>
                  <a:srgbClr val="0E1B2E"/>
                </a:solidFill>
                <a:latin typeface="Consolas"/>
              </a:rPr>
              <a:t>NOTEEVENTS  </a:t>
            </a:r>
            <a:r>
              <a:rPr sz="1350" b="0" i="0">
                <a:solidFill>
                  <a:srgbClr val="384457"/>
                </a:solidFill>
                <a:latin typeface="Calibri"/>
              </a:rPr>
              <a:t>keep discharge summaries only</a:t>
            </a:r>
          </a:p>
          <a:p>
            <a:pPr algn="l">
              <a:spcAft>
                <a:spcPts val="1200"/>
              </a:spcAft>
            </a:pPr>
            <a:r>
              <a:rPr sz="1350" b="1" i="0">
                <a:solidFill>
                  <a:srgbClr val="0E1B2E"/>
                </a:solidFill>
                <a:latin typeface="Consolas"/>
              </a:rPr>
              <a:t>DIAGNOSES_ICD  </a:t>
            </a:r>
            <a:r>
              <a:rPr sz="1350" b="0" i="0">
                <a:solidFill>
                  <a:srgbClr val="384457"/>
                </a:solidFill>
                <a:latin typeface="Calibri"/>
              </a:rPr>
              <a:t>the codes for each admission (the labels)</a:t>
            </a:r>
          </a:p>
          <a:p>
            <a:pPr algn="l">
              <a:spcAft>
                <a:spcPts val="1200"/>
              </a:spcAft>
            </a:pPr>
            <a:r>
              <a:rPr sz="1350" b="1" i="0">
                <a:solidFill>
                  <a:srgbClr val="0E1B2E"/>
                </a:solidFill>
                <a:latin typeface="Consolas"/>
              </a:rPr>
              <a:t>D_ICD_DIAGNOSES  </a:t>
            </a:r>
            <a:r>
              <a:rPr sz="1350" b="0" i="0">
                <a:solidFill>
                  <a:srgbClr val="384457"/>
                </a:solidFill>
                <a:latin typeface="Calibri"/>
              </a:rPr>
              <a:t>readable titles for each code</a:t>
            </a:r>
          </a:p>
        </p:txBody>
      </p:sp>
      <p:sp>
        <p:nvSpPr>
          <p:cNvPr id="24" name="Rounded Rectangle 23"/>
          <p:cNvSpPr/>
          <p:nvPr/>
        </p:nvSpPr>
        <p:spPr>
          <a:xfrm>
            <a:off x="6400800" y="3429000"/>
            <a:ext cx="5148072" cy="2331720"/>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29400" y="3584448"/>
            <a:ext cx="4754880" cy="261610"/>
          </a:xfrm>
          <a:prstGeom prst="rect">
            <a:avLst/>
          </a:prstGeom>
          <a:noFill/>
        </p:spPr>
        <p:txBody>
          <a:bodyPr wrap="square" lIns="54864" tIns="38100" rIns="54864" bIns="38100" anchor="t">
            <a:spAutoFit/>
          </a:bodyPr>
          <a:lstStyle/>
          <a:p>
            <a:pPr algn="l">
              <a:spcAft>
                <a:spcPts val="400"/>
              </a:spcAft>
            </a:pPr>
            <a:r>
              <a:rPr sz="1200" b="1" i="0" dirty="0">
                <a:solidFill>
                  <a:srgbClr val="E8B23A"/>
                </a:solidFill>
                <a:latin typeface="Cambria" panose="02040503050406030204" pitchFamily="18" charset="0"/>
                <a:ea typeface="Cambria" panose="02040503050406030204" pitchFamily="18" charset="0"/>
              </a:rPr>
              <a:t>SPLIT BY PATIENT, NEVER BY NOTE</a:t>
            </a:r>
          </a:p>
        </p:txBody>
      </p:sp>
      <p:sp>
        <p:nvSpPr>
          <p:cNvPr id="26" name="TextBox 25"/>
          <p:cNvSpPr txBox="1"/>
          <p:nvPr/>
        </p:nvSpPr>
        <p:spPr>
          <a:xfrm>
            <a:off x="6629400" y="3950208"/>
            <a:ext cx="4709160" cy="1737360"/>
          </a:xfrm>
          <a:prstGeom prst="rect">
            <a:avLst/>
          </a:prstGeom>
          <a:noFill/>
        </p:spPr>
        <p:txBody>
          <a:bodyPr wrap="square" lIns="54864" tIns="38100" rIns="54864" bIns="38100" anchor="t">
            <a:spAutoFit/>
          </a:bodyPr>
          <a:lstStyle/>
          <a:p>
            <a:pPr algn="l">
              <a:spcAft>
                <a:spcPts val="400"/>
              </a:spcAft>
            </a:pPr>
            <a:r>
              <a:rPr sz="1300" b="0" i="0">
                <a:solidFill>
                  <a:srgbClr val="384457"/>
                </a:solidFill>
                <a:latin typeface="Calibri"/>
              </a:rPr>
              <a:t>If one patient appeared in both train and test, the model could memorize patient-specific wording and look better than it is. Splitting on patient id removes that leakage.</a:t>
            </a:r>
          </a:p>
        </p:txBody>
      </p:sp>
      <p:sp>
        <p:nvSpPr>
          <p:cNvPr id="27" name="Rounded Rectangle 26"/>
          <p:cNvSpPr/>
          <p:nvPr/>
        </p:nvSpPr>
        <p:spPr>
          <a:xfrm>
            <a:off x="6629400" y="5257800"/>
            <a:ext cx="1554480" cy="384048"/>
          </a:xfrm>
          <a:prstGeom prst="roundRect">
            <a:avLst>
              <a:gd name="adj" fmla="val 5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100" b="1" i="0">
                <a:solidFill>
                  <a:srgbClr val="0E1B2E"/>
                </a:solidFill>
                <a:latin typeface="Calibri"/>
              </a:rPr>
              <a:t>train 13,075</a:t>
            </a:r>
          </a:p>
        </p:txBody>
      </p:sp>
      <p:sp>
        <p:nvSpPr>
          <p:cNvPr id="28" name="Rounded Rectangle 27"/>
          <p:cNvSpPr/>
          <p:nvPr/>
        </p:nvSpPr>
        <p:spPr>
          <a:xfrm>
            <a:off x="8275320" y="5257800"/>
            <a:ext cx="1463040" cy="384048"/>
          </a:xfrm>
          <a:prstGeom prst="roundRect">
            <a:avLst>
              <a:gd name="adj" fmla="val 5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100" b="1" i="0">
                <a:solidFill>
                  <a:srgbClr val="0E1B2E"/>
                </a:solidFill>
                <a:latin typeface="Calibri"/>
              </a:rPr>
              <a:t>val 1,732</a:t>
            </a:r>
          </a:p>
        </p:txBody>
      </p:sp>
      <p:sp>
        <p:nvSpPr>
          <p:cNvPr id="29" name="Rounded Rectangle 28"/>
          <p:cNvSpPr/>
          <p:nvPr/>
        </p:nvSpPr>
        <p:spPr>
          <a:xfrm>
            <a:off x="9829800" y="5257800"/>
            <a:ext cx="1463040" cy="384048"/>
          </a:xfrm>
          <a:prstGeom prst="roundRect">
            <a:avLst>
              <a:gd name="adj" fmla="val 5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100" b="1" i="0">
                <a:solidFill>
                  <a:srgbClr val="0E1B2E"/>
                </a:solidFill>
                <a:latin typeface="Calibri"/>
              </a:rPr>
              <a:t>test 1,603</a:t>
            </a:r>
          </a:p>
        </p:txBody>
      </p:sp>
      <p:sp>
        <p:nvSpPr>
          <p:cNvPr id="30" name="Rectangle 29"/>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32" name="TextBox 31"/>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03 / 11</a:t>
            </a:r>
          </a:p>
        </p:txBody>
      </p:sp>
    </p:spTree>
    <p:extLst>
      <p:ext uri="{BB962C8B-B14F-4D97-AF65-F5344CB8AC3E}">
        <p14:creationId xmlns:p14="http://schemas.microsoft.com/office/powerpoint/2010/main" val="2602197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04  ·  PREPROCESS</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lgn="l">
              <a:spcAft>
                <a:spcPts val="400"/>
              </a:spcAft>
            </a:pPr>
            <a:r>
              <a:rPr sz="2800" b="0" i="0" dirty="0">
                <a:solidFill>
                  <a:srgbClr val="0E1B2E"/>
                </a:solidFill>
                <a:latin typeface="Cambria" panose="02040503050406030204" pitchFamily="18" charset="0"/>
                <a:ea typeface="Cambria" panose="02040503050406030204" pitchFamily="18" charset="0"/>
              </a:rPr>
              <a:t>Turn messy prose into clean tokens</a:t>
            </a: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2011680"/>
            <a:ext cx="4892040" cy="1874519"/>
          </a:xfrm>
          <a:prstGeom prst="roundRect">
            <a:avLst>
              <a:gd name="adj" fmla="val 5000"/>
            </a:avLst>
          </a:prstGeom>
          <a:solidFill>
            <a:srgbClr val="0E1B2E"/>
          </a:solidFill>
          <a:ln w="12700">
            <a:solidFill>
              <a:srgbClr val="0E1B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157984"/>
            <a:ext cx="4480560" cy="320040"/>
          </a:xfrm>
          <a:prstGeom prst="rect">
            <a:avLst/>
          </a:prstGeom>
          <a:noFill/>
        </p:spPr>
        <p:txBody>
          <a:bodyPr wrap="square" lIns="54864" tIns="38100" rIns="54864" bIns="38100" anchor="t">
            <a:spAutoFit/>
          </a:bodyPr>
          <a:lstStyle/>
          <a:p>
            <a:pPr algn="l">
              <a:spcAft>
                <a:spcPts val="400"/>
              </a:spcAft>
            </a:pPr>
            <a:r>
              <a:rPr sz="1100" b="1" i="0">
                <a:solidFill>
                  <a:srgbClr val="33B3C6"/>
                </a:solidFill>
                <a:latin typeface="Calibri"/>
              </a:rPr>
              <a:t>RAW</a:t>
            </a:r>
          </a:p>
        </p:txBody>
      </p:sp>
      <p:sp>
        <p:nvSpPr>
          <p:cNvPr id="8" name="TextBox 7"/>
          <p:cNvSpPr txBox="1"/>
          <p:nvPr/>
        </p:nvSpPr>
        <p:spPr>
          <a:xfrm>
            <a:off x="868680" y="2505456"/>
            <a:ext cx="4434840" cy="1280160"/>
          </a:xfrm>
          <a:prstGeom prst="rect">
            <a:avLst/>
          </a:prstGeom>
          <a:noFill/>
        </p:spPr>
        <p:txBody>
          <a:bodyPr wrap="square" lIns="54864" tIns="38100" rIns="54864" bIns="38100" anchor="t">
            <a:spAutoFit/>
          </a:bodyPr>
          <a:lstStyle/>
          <a:p>
            <a:pPr algn="l">
              <a:spcAft>
                <a:spcPts val="200"/>
              </a:spcAft>
            </a:pPr>
            <a:r>
              <a:rPr sz="1200" b="0" i="0">
                <a:solidFill>
                  <a:srgbClr val="C9D6E4"/>
                </a:solidFill>
                <a:latin typeface="Consolas"/>
              </a:rPr>
              <a:t>Pt is a [**Age over 90**]yo F
with PMH of CHF, HTN, Cr 2.1
on admission [**2101-3-14**] ...</a:t>
            </a:r>
          </a:p>
        </p:txBody>
      </p:sp>
      <p:sp>
        <p:nvSpPr>
          <p:cNvPr id="9" name="Right Arrow 8"/>
          <p:cNvSpPr/>
          <p:nvPr/>
        </p:nvSpPr>
        <p:spPr>
          <a:xfrm>
            <a:off x="5687568" y="2724912"/>
            <a:ext cx="502920" cy="457200"/>
          </a:xfrm>
          <a:prstGeom prst="rightArrow">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00800" y="2011680"/>
            <a:ext cx="5148072" cy="1874519"/>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2157984"/>
            <a:ext cx="4754880" cy="320040"/>
          </a:xfrm>
          <a:prstGeom prst="rect">
            <a:avLst/>
          </a:prstGeom>
          <a:noFill/>
        </p:spPr>
        <p:txBody>
          <a:bodyPr wrap="square" lIns="54864" tIns="38100" rIns="54864" bIns="38100" anchor="t">
            <a:spAutoFit/>
          </a:bodyPr>
          <a:lstStyle/>
          <a:p>
            <a:pPr algn="l">
              <a:spcAft>
                <a:spcPts val="400"/>
              </a:spcAft>
            </a:pPr>
            <a:r>
              <a:rPr sz="1100" b="1" i="0">
                <a:solidFill>
                  <a:srgbClr val="1F7A8C"/>
                </a:solidFill>
                <a:latin typeface="Calibri"/>
              </a:rPr>
              <a:t>CLEAN</a:t>
            </a:r>
          </a:p>
        </p:txBody>
      </p:sp>
      <p:sp>
        <p:nvSpPr>
          <p:cNvPr id="12" name="TextBox 11"/>
          <p:cNvSpPr txBox="1"/>
          <p:nvPr/>
        </p:nvSpPr>
        <p:spPr>
          <a:xfrm>
            <a:off x="6629400" y="2505456"/>
            <a:ext cx="4709160" cy="1280160"/>
          </a:xfrm>
          <a:prstGeom prst="rect">
            <a:avLst/>
          </a:prstGeom>
          <a:noFill/>
        </p:spPr>
        <p:txBody>
          <a:bodyPr wrap="square" lIns="54864" tIns="38100" rIns="54864" bIns="38100" anchor="t">
            <a:spAutoFit/>
          </a:bodyPr>
          <a:lstStyle/>
          <a:p>
            <a:pPr algn="l">
              <a:spcAft>
                <a:spcPts val="200"/>
              </a:spcAft>
            </a:pPr>
            <a:r>
              <a:rPr sz="1200" b="0" i="0">
                <a:solidFill>
                  <a:srgbClr val="0E1B2E"/>
                </a:solidFill>
                <a:latin typeface="Consolas"/>
              </a:rPr>
              <a:t>pt is a yo f with pmh of chf
htn cr on admission ...</a:t>
            </a:r>
          </a:p>
        </p:txBody>
      </p:sp>
      <p:sp>
        <p:nvSpPr>
          <p:cNvPr id="13" name="Rounded Rectangle 12"/>
          <p:cNvSpPr/>
          <p:nvPr/>
        </p:nvSpPr>
        <p:spPr>
          <a:xfrm>
            <a:off x="640080" y="4206240"/>
            <a:ext cx="2194560" cy="457200"/>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00" b="1" i="0">
                <a:solidFill>
                  <a:srgbClr val="FFFFFF"/>
                </a:solidFill>
                <a:latin typeface="Calibri"/>
              </a:rPr>
              <a:t>strip [**de-id**]</a:t>
            </a:r>
          </a:p>
        </p:txBody>
      </p:sp>
      <p:sp>
        <p:nvSpPr>
          <p:cNvPr id="14" name="Rounded Rectangle 13"/>
          <p:cNvSpPr/>
          <p:nvPr/>
        </p:nvSpPr>
        <p:spPr>
          <a:xfrm>
            <a:off x="4997450" y="4206240"/>
            <a:ext cx="2194560" cy="457200"/>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00" b="1" i="0">
                <a:solidFill>
                  <a:srgbClr val="FFFFFF"/>
                </a:solidFill>
                <a:latin typeface="Calibri"/>
              </a:rPr>
              <a:t>lowercase</a:t>
            </a:r>
          </a:p>
        </p:txBody>
      </p:sp>
      <p:sp>
        <p:nvSpPr>
          <p:cNvPr id="15" name="Rounded Rectangle 14"/>
          <p:cNvSpPr/>
          <p:nvPr/>
        </p:nvSpPr>
        <p:spPr>
          <a:xfrm>
            <a:off x="9354820" y="4206240"/>
            <a:ext cx="2194560" cy="457200"/>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00" b="1" i="0">
                <a:solidFill>
                  <a:srgbClr val="FFFFFF"/>
                </a:solidFill>
                <a:latin typeface="Calibri"/>
              </a:rPr>
              <a:t>keep word tokens</a:t>
            </a:r>
          </a:p>
        </p:txBody>
      </p:sp>
      <p:sp>
        <p:nvSpPr>
          <p:cNvPr id="16" name="Rectangle 15"/>
          <p:cNvSpPr/>
          <p:nvPr/>
        </p:nvSpPr>
        <p:spPr>
          <a:xfrm>
            <a:off x="640080" y="5074920"/>
            <a:ext cx="82296" cy="475488"/>
          </a:xfrm>
          <a:prstGeom prst="rect">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5056632"/>
            <a:ext cx="10424160" cy="548640"/>
          </a:xfrm>
          <a:prstGeom prst="rect">
            <a:avLst/>
          </a:prstGeom>
          <a:noFill/>
        </p:spPr>
        <p:txBody>
          <a:bodyPr wrap="square" lIns="54864" tIns="38100" rIns="54864" bIns="38100" anchor="ctr">
            <a:spAutoFit/>
          </a:bodyPr>
          <a:lstStyle/>
          <a:p>
            <a:pPr algn="l">
              <a:spcAft>
                <a:spcPts val="400"/>
              </a:spcAft>
            </a:pPr>
            <a:r>
              <a:rPr sz="1350" b="0" i="0">
                <a:solidFill>
                  <a:srgbClr val="0E1B2E"/>
                </a:solidFill>
                <a:latin typeface="Calibri"/>
              </a:rPr>
              <a:t>The exact same cleaning feeds both models, so any difference in results comes from the model, not the text.</a:t>
            </a:r>
          </a:p>
        </p:txBody>
      </p:sp>
      <p:sp>
        <p:nvSpPr>
          <p:cNvPr id="18" name="Rectangle 17"/>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20" name="TextBox 19"/>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04 / 11</a:t>
            </a:r>
          </a:p>
        </p:txBody>
      </p:sp>
    </p:spTree>
    <p:extLst>
      <p:ext uri="{BB962C8B-B14F-4D97-AF65-F5344CB8AC3E}">
        <p14:creationId xmlns:p14="http://schemas.microsoft.com/office/powerpoint/2010/main" val="1063691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05  ·  MEASURING SUCCESS</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lgn="l">
              <a:spcAft>
                <a:spcPts val="400"/>
              </a:spcAft>
            </a:pPr>
            <a:r>
              <a:rPr sz="2800" b="0" i="0" dirty="0">
                <a:solidFill>
                  <a:srgbClr val="0E1B2E"/>
                </a:solidFill>
                <a:latin typeface="Cambria" panose="02040503050406030204" pitchFamily="18" charset="0"/>
                <a:ea typeface="Cambria" panose="02040503050406030204" pitchFamily="18" charset="0"/>
              </a:rPr>
              <a:t>Metrics that respect rare codes</a:t>
            </a: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828800"/>
            <a:ext cx="10881360" cy="411480"/>
          </a:xfrm>
          <a:prstGeom prst="rect">
            <a:avLst/>
          </a:prstGeom>
          <a:noFill/>
        </p:spPr>
        <p:txBody>
          <a:bodyPr wrap="square" lIns="54864" tIns="38100" rIns="54864" bIns="38100" anchor="t">
            <a:spAutoFit/>
          </a:bodyPr>
          <a:lstStyle/>
          <a:p>
            <a:pPr algn="l">
              <a:spcAft>
                <a:spcPts val="400"/>
              </a:spcAft>
            </a:pPr>
            <a:r>
              <a:rPr sz="1450" b="0" i="0">
                <a:solidFill>
                  <a:srgbClr val="384457"/>
                </a:solidFill>
                <a:latin typeface="Calibri"/>
              </a:rPr>
              <a:t>Accuracy is a trap: most of the 50 codes are absent from any note, so a model that says “no” to everything scores high and helps no one. We use three honest metrics instead.</a:t>
            </a:r>
          </a:p>
        </p:txBody>
      </p:sp>
      <p:sp>
        <p:nvSpPr>
          <p:cNvPr id="7" name="Rounded Rectangle 6"/>
          <p:cNvSpPr/>
          <p:nvPr/>
        </p:nvSpPr>
        <p:spPr>
          <a:xfrm>
            <a:off x="640080" y="2697480"/>
            <a:ext cx="3502152" cy="2331720"/>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697480"/>
            <a:ext cx="3502152"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2926080"/>
            <a:ext cx="3108960" cy="353943"/>
          </a:xfrm>
          <a:prstGeom prst="rect">
            <a:avLst/>
          </a:prstGeom>
          <a:noFill/>
        </p:spPr>
        <p:txBody>
          <a:bodyPr wrap="square" lIns="54864" tIns="38100" rIns="54864" bIns="38100" anchor="t">
            <a:spAutoFit/>
          </a:bodyPr>
          <a:lstStyle/>
          <a:p>
            <a:pPr algn="l">
              <a:spcAft>
                <a:spcPts val="400"/>
              </a:spcAft>
            </a:pPr>
            <a:r>
              <a:rPr sz="1800" b="1" i="0" dirty="0">
                <a:solidFill>
                  <a:srgbClr val="0E1B2E"/>
                </a:solidFill>
                <a:latin typeface="Cambria" panose="02040503050406030204" pitchFamily="18" charset="0"/>
                <a:ea typeface="Cambria" panose="02040503050406030204" pitchFamily="18" charset="0"/>
              </a:rPr>
              <a:t>Micro-F1</a:t>
            </a:r>
          </a:p>
        </p:txBody>
      </p:sp>
      <p:sp>
        <p:nvSpPr>
          <p:cNvPr id="10" name="TextBox 9"/>
          <p:cNvSpPr txBox="1"/>
          <p:nvPr/>
        </p:nvSpPr>
        <p:spPr>
          <a:xfrm>
            <a:off x="841247" y="3456432"/>
            <a:ext cx="3154680" cy="1463040"/>
          </a:xfrm>
          <a:prstGeom prst="rect">
            <a:avLst/>
          </a:prstGeom>
          <a:noFill/>
        </p:spPr>
        <p:txBody>
          <a:bodyPr wrap="square" lIns="54864" tIns="38100" rIns="54864" bIns="38100" anchor="t">
            <a:spAutoFit/>
          </a:bodyPr>
          <a:lstStyle/>
          <a:p>
            <a:pPr algn="l">
              <a:spcAft>
                <a:spcPts val="400"/>
              </a:spcAft>
            </a:pPr>
            <a:r>
              <a:rPr sz="1250" b="0" i="0">
                <a:solidFill>
                  <a:srgbClr val="384457"/>
                </a:solidFill>
                <a:latin typeface="Calibri"/>
              </a:rPr>
              <a:t>Pools every label decision together. Rewards getting the common codes right.</a:t>
            </a:r>
          </a:p>
        </p:txBody>
      </p:sp>
      <p:sp>
        <p:nvSpPr>
          <p:cNvPr id="11" name="Rounded Rectangle 10"/>
          <p:cNvSpPr/>
          <p:nvPr/>
        </p:nvSpPr>
        <p:spPr>
          <a:xfrm>
            <a:off x="4343400" y="2697480"/>
            <a:ext cx="3502152" cy="2331720"/>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2697480"/>
            <a:ext cx="3502152" cy="109728"/>
          </a:xfrm>
          <a:prstGeom prst="rect">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2926080"/>
            <a:ext cx="3108960" cy="353943"/>
          </a:xfrm>
          <a:prstGeom prst="rect">
            <a:avLst/>
          </a:prstGeom>
          <a:noFill/>
        </p:spPr>
        <p:txBody>
          <a:bodyPr wrap="square" lIns="54864" tIns="38100" rIns="54864" bIns="38100" anchor="t">
            <a:spAutoFit/>
          </a:bodyPr>
          <a:lstStyle/>
          <a:p>
            <a:pPr algn="l">
              <a:spcAft>
                <a:spcPts val="400"/>
              </a:spcAft>
            </a:pPr>
            <a:r>
              <a:rPr sz="1800" b="1" i="0" dirty="0">
                <a:solidFill>
                  <a:srgbClr val="0E1B2E"/>
                </a:solidFill>
                <a:latin typeface="Cambria" panose="02040503050406030204" pitchFamily="18" charset="0"/>
                <a:ea typeface="Cambria" panose="02040503050406030204" pitchFamily="18" charset="0"/>
              </a:rPr>
              <a:t>Macro-F1</a:t>
            </a:r>
          </a:p>
        </p:txBody>
      </p:sp>
      <p:sp>
        <p:nvSpPr>
          <p:cNvPr id="14" name="TextBox 13"/>
          <p:cNvSpPr txBox="1"/>
          <p:nvPr/>
        </p:nvSpPr>
        <p:spPr>
          <a:xfrm>
            <a:off x="4544568" y="3456432"/>
            <a:ext cx="3154680" cy="1463040"/>
          </a:xfrm>
          <a:prstGeom prst="rect">
            <a:avLst/>
          </a:prstGeom>
          <a:noFill/>
        </p:spPr>
        <p:txBody>
          <a:bodyPr wrap="square" lIns="54864" tIns="38100" rIns="54864" bIns="38100" anchor="t">
            <a:spAutoFit/>
          </a:bodyPr>
          <a:lstStyle/>
          <a:p>
            <a:pPr algn="l">
              <a:spcAft>
                <a:spcPts val="400"/>
              </a:spcAft>
            </a:pPr>
            <a:r>
              <a:rPr sz="1250" b="0" i="0">
                <a:solidFill>
                  <a:srgbClr val="384457"/>
                </a:solidFill>
                <a:latin typeface="Calibri"/>
              </a:rPr>
              <a:t>Averages F1 across the 50 codes equally. Rewards handling rare codes, not just common ones.</a:t>
            </a:r>
          </a:p>
        </p:txBody>
      </p:sp>
      <p:sp>
        <p:nvSpPr>
          <p:cNvPr id="15" name="Rounded Rectangle 14"/>
          <p:cNvSpPr/>
          <p:nvPr/>
        </p:nvSpPr>
        <p:spPr>
          <a:xfrm>
            <a:off x="8046720" y="2697480"/>
            <a:ext cx="3502152" cy="2331720"/>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2697480"/>
            <a:ext cx="3502152"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2926080"/>
            <a:ext cx="3108960" cy="353943"/>
          </a:xfrm>
          <a:prstGeom prst="rect">
            <a:avLst/>
          </a:prstGeom>
          <a:noFill/>
        </p:spPr>
        <p:txBody>
          <a:bodyPr wrap="square" lIns="54864" tIns="38100" rIns="54864" bIns="38100" anchor="t">
            <a:spAutoFit/>
          </a:bodyPr>
          <a:lstStyle/>
          <a:p>
            <a:pPr algn="l">
              <a:spcAft>
                <a:spcPts val="400"/>
              </a:spcAft>
            </a:pPr>
            <a:r>
              <a:rPr sz="1800" b="1" i="0" dirty="0" err="1">
                <a:solidFill>
                  <a:srgbClr val="0E1B2E"/>
                </a:solidFill>
                <a:latin typeface="Cambria" panose="02040503050406030204" pitchFamily="18" charset="0"/>
                <a:ea typeface="Cambria" panose="02040503050406030204" pitchFamily="18" charset="0"/>
              </a:rPr>
              <a:t>Precision@k</a:t>
            </a:r>
            <a:endParaRPr sz="1800" b="1" i="0" dirty="0">
              <a:solidFill>
                <a:srgbClr val="0E1B2E"/>
              </a:solidFill>
              <a:latin typeface="Cambria" panose="02040503050406030204" pitchFamily="18" charset="0"/>
              <a:ea typeface="Cambria" panose="02040503050406030204" pitchFamily="18" charset="0"/>
            </a:endParaRPr>
          </a:p>
        </p:txBody>
      </p:sp>
      <p:sp>
        <p:nvSpPr>
          <p:cNvPr id="18" name="TextBox 17"/>
          <p:cNvSpPr txBox="1"/>
          <p:nvPr/>
        </p:nvSpPr>
        <p:spPr>
          <a:xfrm>
            <a:off x="8247888" y="3456432"/>
            <a:ext cx="3154680" cy="1463040"/>
          </a:xfrm>
          <a:prstGeom prst="rect">
            <a:avLst/>
          </a:prstGeom>
          <a:noFill/>
        </p:spPr>
        <p:txBody>
          <a:bodyPr wrap="square" lIns="54864" tIns="38100" rIns="54864" bIns="38100" anchor="t">
            <a:spAutoFit/>
          </a:bodyPr>
          <a:lstStyle/>
          <a:p>
            <a:pPr algn="l">
              <a:spcAft>
                <a:spcPts val="400"/>
              </a:spcAft>
            </a:pPr>
            <a:r>
              <a:rPr sz="1250" b="0" i="0">
                <a:solidFill>
                  <a:srgbClr val="384457"/>
                </a:solidFill>
                <a:latin typeface="Calibri"/>
              </a:rPr>
              <a:t>Of the model’s top k suggested codes, how many are correct. Matches how a coder would use it.</a:t>
            </a:r>
          </a:p>
        </p:txBody>
      </p:sp>
      <p:sp>
        <p:nvSpPr>
          <p:cNvPr id="19" name="Rectangle 18"/>
          <p:cNvSpPr/>
          <p:nvPr/>
        </p:nvSpPr>
        <p:spPr>
          <a:xfrm>
            <a:off x="640080" y="5440680"/>
            <a:ext cx="82296" cy="475488"/>
          </a:xfrm>
          <a:prstGeom prst="rect">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422392"/>
            <a:ext cx="10424160" cy="548640"/>
          </a:xfrm>
          <a:prstGeom prst="rect">
            <a:avLst/>
          </a:prstGeom>
          <a:noFill/>
        </p:spPr>
        <p:txBody>
          <a:bodyPr wrap="square" lIns="54864" tIns="38100" rIns="54864" bIns="38100" anchor="ctr">
            <a:spAutoFit/>
          </a:bodyPr>
          <a:lstStyle/>
          <a:p>
            <a:pPr algn="l">
              <a:spcAft>
                <a:spcPts val="400"/>
              </a:spcAft>
            </a:pPr>
            <a:r>
              <a:rPr sz="1350" b="0" i="0">
                <a:solidFill>
                  <a:srgbClr val="0E1B2E"/>
                </a:solidFill>
                <a:latin typeface="Calibri"/>
              </a:rPr>
              <a:t>Tune the decision threshold on validation, then report once on a test set we never touched.</a:t>
            </a:r>
          </a:p>
        </p:txBody>
      </p:sp>
      <p:sp>
        <p:nvSpPr>
          <p:cNvPr id="21" name="Rectangle 20"/>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23" name="TextBox 22"/>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05 / 11</a:t>
            </a:r>
          </a:p>
        </p:txBody>
      </p:sp>
    </p:spTree>
    <p:extLst>
      <p:ext uri="{BB962C8B-B14F-4D97-AF65-F5344CB8AC3E}">
        <p14:creationId xmlns:p14="http://schemas.microsoft.com/office/powerpoint/2010/main" val="2835939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06  ·  BASELINE</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lgn="l">
              <a:spcAft>
                <a:spcPts val="400"/>
              </a:spcAft>
            </a:pPr>
            <a:r>
              <a:rPr sz="2800" b="0" i="0" dirty="0">
                <a:solidFill>
                  <a:srgbClr val="0E1B2E"/>
                </a:solidFill>
                <a:latin typeface="Cambria" panose="02040503050406030204" pitchFamily="18" charset="0"/>
                <a:ea typeface="Cambria" panose="02040503050406030204" pitchFamily="18" charset="0"/>
              </a:rPr>
              <a:t>A strong, simple starting point</a:t>
            </a: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20240"/>
            <a:ext cx="5760720" cy="822960"/>
          </a:xfrm>
          <a:prstGeom prst="rect">
            <a:avLst/>
          </a:prstGeom>
          <a:noFill/>
        </p:spPr>
        <p:txBody>
          <a:bodyPr wrap="square" lIns="54864" rIns="54864" anchor="t">
            <a:spAutoFit/>
          </a:bodyPr>
          <a:lstStyle/>
          <a:p>
            <a:pPr algn="l">
              <a:spcAft>
                <a:spcPts val="400"/>
              </a:spcAft>
            </a:pPr>
            <a:r>
              <a:rPr sz="1500" b="1" i="0">
                <a:solidFill>
                  <a:srgbClr val="1F7A8C"/>
                </a:solidFill>
                <a:latin typeface="Calibri"/>
              </a:rPr>
              <a:t>TF-IDF</a:t>
            </a:r>
            <a:r>
              <a:rPr sz="1500" b="0" i="0">
                <a:solidFill>
                  <a:srgbClr val="384457"/>
                </a:solidFill>
                <a:latin typeface="Calibri"/>
              </a:rPr>
              <a:t> turns each note into word weights, then </a:t>
            </a:r>
            <a:r>
              <a:rPr sz="1500" b="1" i="0">
                <a:solidFill>
                  <a:srgbClr val="1F7A8C"/>
                </a:solidFill>
                <a:latin typeface="Calibri"/>
              </a:rPr>
              <a:t>one logistic regression per code</a:t>
            </a:r>
            <a:r>
              <a:rPr sz="1500" b="0" i="0">
                <a:solidFill>
                  <a:srgbClr val="384457"/>
                </a:solidFill>
                <a:latin typeface="Calibri"/>
              </a:rPr>
              <a:t> makes 50 yes/no calls.</a:t>
            </a:r>
          </a:p>
        </p:txBody>
      </p:sp>
      <p:sp>
        <p:nvSpPr>
          <p:cNvPr id="7" name="Chevron 6"/>
          <p:cNvSpPr/>
          <p:nvPr/>
        </p:nvSpPr>
        <p:spPr>
          <a:xfrm>
            <a:off x="2409445" y="2825496"/>
            <a:ext cx="1554480" cy="822960"/>
          </a:xfrm>
          <a:prstGeom prst="chevron">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50" b="1" i="0">
                <a:solidFill>
                  <a:srgbClr val="0E1B2E"/>
                </a:solidFill>
                <a:latin typeface="Calibri"/>
              </a:rPr>
              <a:t>Note</a:t>
            </a:r>
          </a:p>
        </p:txBody>
      </p:sp>
      <p:sp>
        <p:nvSpPr>
          <p:cNvPr id="8" name="Chevron 7"/>
          <p:cNvSpPr/>
          <p:nvPr/>
        </p:nvSpPr>
        <p:spPr>
          <a:xfrm>
            <a:off x="3707893" y="2825496"/>
            <a:ext cx="2331720" cy="822960"/>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50" b="1" i="0">
                <a:solidFill>
                  <a:srgbClr val="FFFFFF"/>
                </a:solidFill>
                <a:latin typeface="Calibri"/>
              </a:rPr>
              <a:t>TF-IDF vector</a:t>
            </a:r>
          </a:p>
        </p:txBody>
      </p:sp>
      <p:sp>
        <p:nvSpPr>
          <p:cNvPr id="9" name="Chevron 8"/>
          <p:cNvSpPr/>
          <p:nvPr/>
        </p:nvSpPr>
        <p:spPr>
          <a:xfrm>
            <a:off x="5783580" y="2825496"/>
            <a:ext cx="2331720" cy="822960"/>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50" b="1" i="0">
                <a:solidFill>
                  <a:srgbClr val="FFFFFF"/>
                </a:solidFill>
                <a:latin typeface="Calibri"/>
              </a:rPr>
              <a:t>50 × logistic reg.</a:t>
            </a:r>
          </a:p>
        </p:txBody>
      </p:sp>
      <p:sp>
        <p:nvSpPr>
          <p:cNvPr id="10" name="Chevron 9"/>
          <p:cNvSpPr/>
          <p:nvPr/>
        </p:nvSpPr>
        <p:spPr>
          <a:xfrm>
            <a:off x="7859268" y="2825496"/>
            <a:ext cx="2331720" cy="822960"/>
          </a:xfrm>
          <a:prstGeom prst="chevron">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50" b="1" i="0">
                <a:solidFill>
                  <a:srgbClr val="FFFFFF"/>
                </a:solidFill>
                <a:latin typeface="Calibri"/>
              </a:rPr>
              <a:t>code probabilities</a:t>
            </a:r>
          </a:p>
        </p:txBody>
      </p:sp>
      <p:sp>
        <p:nvSpPr>
          <p:cNvPr id="11" name="Rounded Rectangle 10"/>
          <p:cNvSpPr/>
          <p:nvPr/>
        </p:nvSpPr>
        <p:spPr>
          <a:xfrm>
            <a:off x="640080" y="4114800"/>
            <a:ext cx="10908792" cy="1600200"/>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4261104"/>
            <a:ext cx="4572000" cy="365760"/>
          </a:xfrm>
          <a:prstGeom prst="rect">
            <a:avLst/>
          </a:prstGeom>
          <a:noFill/>
        </p:spPr>
        <p:txBody>
          <a:bodyPr wrap="square" lIns="54864" tIns="38100" rIns="54864" bIns="38100" anchor="t">
            <a:spAutoFit/>
          </a:bodyPr>
          <a:lstStyle/>
          <a:p>
            <a:pPr algn="l">
              <a:spcAft>
                <a:spcPts val="400"/>
              </a:spcAft>
            </a:pPr>
            <a:r>
              <a:rPr sz="1200" b="1" i="0">
                <a:solidFill>
                  <a:srgbClr val="1F7A8C"/>
                </a:solidFill>
                <a:latin typeface="Calibri"/>
              </a:rPr>
              <a:t>BASELINE ON THE TEST SET</a:t>
            </a:r>
          </a:p>
        </p:txBody>
      </p:sp>
      <p:sp>
        <p:nvSpPr>
          <p:cNvPr id="13" name="TextBox 12"/>
          <p:cNvSpPr txBox="1"/>
          <p:nvPr/>
        </p:nvSpPr>
        <p:spPr>
          <a:xfrm>
            <a:off x="6949440" y="4298738"/>
            <a:ext cx="4480560" cy="253916"/>
          </a:xfrm>
          <a:prstGeom prst="rect">
            <a:avLst/>
          </a:prstGeom>
          <a:noFill/>
        </p:spPr>
        <p:txBody>
          <a:bodyPr wrap="square" lIns="54864" tIns="38100" rIns="54864" bIns="38100" anchor="ctr">
            <a:spAutoFit/>
          </a:bodyPr>
          <a:lstStyle/>
          <a:p>
            <a:pPr algn="r">
              <a:spcAft>
                <a:spcPts val="400"/>
              </a:spcAft>
            </a:pPr>
            <a:r>
              <a:rPr sz="1150" b="0" i="1">
                <a:solidFill>
                  <a:srgbClr val="6B7688"/>
                </a:solidFill>
                <a:latin typeface="Calibri"/>
              </a:rPr>
              <a:t>trained in ~5 min on CPU</a:t>
            </a:r>
          </a:p>
        </p:txBody>
      </p:sp>
      <p:sp>
        <p:nvSpPr>
          <p:cNvPr id="14" name="TextBox 13"/>
          <p:cNvSpPr txBox="1"/>
          <p:nvPr/>
        </p:nvSpPr>
        <p:spPr>
          <a:xfrm>
            <a:off x="914400" y="4681728"/>
            <a:ext cx="2377440" cy="640080"/>
          </a:xfrm>
          <a:prstGeom prst="rect">
            <a:avLst/>
          </a:prstGeom>
          <a:noFill/>
        </p:spPr>
        <p:txBody>
          <a:bodyPr wrap="square" lIns="54864" tIns="38100" rIns="54864" bIns="38100" anchor="t">
            <a:spAutoFit/>
          </a:bodyPr>
          <a:lstStyle/>
          <a:p>
            <a:pPr algn="l">
              <a:spcAft>
                <a:spcPts val="400"/>
              </a:spcAft>
            </a:pPr>
            <a:r>
              <a:rPr sz="3000" b="0" i="0">
                <a:solidFill>
                  <a:srgbClr val="0E1B2E"/>
                </a:solidFill>
                <a:latin typeface="Calibri Light"/>
              </a:rPr>
              <a:t>0.602</a:t>
            </a:r>
          </a:p>
        </p:txBody>
      </p:sp>
      <p:sp>
        <p:nvSpPr>
          <p:cNvPr id="15" name="TextBox 14"/>
          <p:cNvSpPr txBox="1"/>
          <p:nvPr/>
        </p:nvSpPr>
        <p:spPr>
          <a:xfrm>
            <a:off x="1065276" y="5184648"/>
            <a:ext cx="2377440" cy="274320"/>
          </a:xfrm>
          <a:prstGeom prst="rect">
            <a:avLst/>
          </a:prstGeom>
          <a:noFill/>
        </p:spPr>
        <p:txBody>
          <a:bodyPr wrap="square" lIns="54864" tIns="38100" rIns="54864" bIns="38100" anchor="t">
            <a:spAutoFit/>
          </a:bodyPr>
          <a:lstStyle/>
          <a:p>
            <a:pPr algn="l">
              <a:spcAft>
                <a:spcPts val="400"/>
              </a:spcAft>
            </a:pPr>
            <a:r>
              <a:rPr sz="1150" b="0" i="0" dirty="0">
                <a:solidFill>
                  <a:srgbClr val="6B7688"/>
                </a:solidFill>
                <a:latin typeface="Calibri"/>
              </a:rPr>
              <a:t>micro-F1</a:t>
            </a:r>
          </a:p>
        </p:txBody>
      </p:sp>
      <p:sp>
        <p:nvSpPr>
          <p:cNvPr id="16" name="TextBox 15"/>
          <p:cNvSpPr txBox="1"/>
          <p:nvPr/>
        </p:nvSpPr>
        <p:spPr>
          <a:xfrm>
            <a:off x="3566160" y="4681728"/>
            <a:ext cx="2377440" cy="640080"/>
          </a:xfrm>
          <a:prstGeom prst="rect">
            <a:avLst/>
          </a:prstGeom>
          <a:noFill/>
        </p:spPr>
        <p:txBody>
          <a:bodyPr wrap="square" lIns="54864" tIns="38100" rIns="54864" bIns="38100" anchor="t">
            <a:spAutoFit/>
          </a:bodyPr>
          <a:lstStyle/>
          <a:p>
            <a:pPr algn="l">
              <a:spcAft>
                <a:spcPts val="400"/>
              </a:spcAft>
            </a:pPr>
            <a:r>
              <a:rPr sz="3000" b="0" i="0" dirty="0">
                <a:solidFill>
                  <a:srgbClr val="0E1B2E"/>
                </a:solidFill>
                <a:latin typeface="Calibri Light"/>
              </a:rPr>
              <a:t>0.533</a:t>
            </a:r>
          </a:p>
        </p:txBody>
      </p:sp>
      <p:sp>
        <p:nvSpPr>
          <p:cNvPr id="17" name="TextBox 16"/>
          <p:cNvSpPr txBox="1"/>
          <p:nvPr/>
        </p:nvSpPr>
        <p:spPr>
          <a:xfrm>
            <a:off x="3703320" y="5180957"/>
            <a:ext cx="2377440" cy="274320"/>
          </a:xfrm>
          <a:prstGeom prst="rect">
            <a:avLst/>
          </a:prstGeom>
          <a:noFill/>
        </p:spPr>
        <p:txBody>
          <a:bodyPr wrap="square" lIns="54864" tIns="38100" rIns="54864" bIns="38100" anchor="t">
            <a:spAutoFit/>
          </a:bodyPr>
          <a:lstStyle/>
          <a:p>
            <a:pPr algn="l">
              <a:spcAft>
                <a:spcPts val="400"/>
              </a:spcAft>
            </a:pPr>
            <a:r>
              <a:rPr sz="1150" b="0" i="0" dirty="0">
                <a:solidFill>
                  <a:srgbClr val="6B7688"/>
                </a:solidFill>
                <a:latin typeface="Calibri"/>
              </a:rPr>
              <a:t>macro-F1</a:t>
            </a:r>
          </a:p>
        </p:txBody>
      </p:sp>
      <p:sp>
        <p:nvSpPr>
          <p:cNvPr id="18" name="TextBox 17"/>
          <p:cNvSpPr txBox="1"/>
          <p:nvPr/>
        </p:nvSpPr>
        <p:spPr>
          <a:xfrm>
            <a:off x="6217920" y="4681728"/>
            <a:ext cx="2377440" cy="640080"/>
          </a:xfrm>
          <a:prstGeom prst="rect">
            <a:avLst/>
          </a:prstGeom>
          <a:noFill/>
        </p:spPr>
        <p:txBody>
          <a:bodyPr wrap="square" lIns="54864" tIns="38100" rIns="54864" bIns="38100" anchor="t">
            <a:spAutoFit/>
          </a:bodyPr>
          <a:lstStyle/>
          <a:p>
            <a:pPr algn="l">
              <a:spcAft>
                <a:spcPts val="400"/>
              </a:spcAft>
            </a:pPr>
            <a:r>
              <a:rPr sz="3000" b="0" i="0">
                <a:solidFill>
                  <a:srgbClr val="0E1B2E"/>
                </a:solidFill>
                <a:latin typeface="Calibri Light"/>
              </a:rPr>
              <a:t>0.520</a:t>
            </a:r>
          </a:p>
        </p:txBody>
      </p:sp>
      <p:sp>
        <p:nvSpPr>
          <p:cNvPr id="19" name="TextBox 18"/>
          <p:cNvSpPr txBox="1"/>
          <p:nvPr/>
        </p:nvSpPr>
        <p:spPr>
          <a:xfrm>
            <a:off x="6400800" y="5190856"/>
            <a:ext cx="2377440" cy="274320"/>
          </a:xfrm>
          <a:prstGeom prst="rect">
            <a:avLst/>
          </a:prstGeom>
          <a:noFill/>
        </p:spPr>
        <p:txBody>
          <a:bodyPr wrap="square" lIns="54864" tIns="38100" rIns="54864" bIns="38100" anchor="t">
            <a:spAutoFit/>
          </a:bodyPr>
          <a:lstStyle/>
          <a:p>
            <a:pPr algn="l">
              <a:spcAft>
                <a:spcPts val="400"/>
              </a:spcAft>
            </a:pPr>
            <a:r>
              <a:rPr sz="1150" b="0" i="0" dirty="0">
                <a:solidFill>
                  <a:srgbClr val="6B7688"/>
                </a:solidFill>
                <a:latin typeface="Calibri"/>
              </a:rPr>
              <a:t>prec@5</a:t>
            </a:r>
          </a:p>
        </p:txBody>
      </p:sp>
      <p:sp>
        <p:nvSpPr>
          <p:cNvPr id="20" name="TextBox 19"/>
          <p:cNvSpPr txBox="1"/>
          <p:nvPr/>
        </p:nvSpPr>
        <p:spPr>
          <a:xfrm>
            <a:off x="8869680" y="4681728"/>
            <a:ext cx="2377440" cy="640080"/>
          </a:xfrm>
          <a:prstGeom prst="rect">
            <a:avLst/>
          </a:prstGeom>
          <a:noFill/>
        </p:spPr>
        <p:txBody>
          <a:bodyPr wrap="square" lIns="54864" tIns="38100" rIns="54864" bIns="38100" anchor="t">
            <a:spAutoFit/>
          </a:bodyPr>
          <a:lstStyle/>
          <a:p>
            <a:pPr algn="l">
              <a:spcAft>
                <a:spcPts val="400"/>
              </a:spcAft>
            </a:pPr>
            <a:r>
              <a:rPr sz="3000" b="0" i="0">
                <a:solidFill>
                  <a:srgbClr val="0E1B2E"/>
                </a:solidFill>
                <a:latin typeface="Calibri Light"/>
              </a:rPr>
              <a:t>0.408</a:t>
            </a:r>
          </a:p>
        </p:txBody>
      </p:sp>
      <p:sp>
        <p:nvSpPr>
          <p:cNvPr id="21" name="TextBox 20"/>
          <p:cNvSpPr txBox="1"/>
          <p:nvPr/>
        </p:nvSpPr>
        <p:spPr>
          <a:xfrm>
            <a:off x="9098280" y="5176562"/>
            <a:ext cx="2377440" cy="274320"/>
          </a:xfrm>
          <a:prstGeom prst="rect">
            <a:avLst/>
          </a:prstGeom>
          <a:noFill/>
        </p:spPr>
        <p:txBody>
          <a:bodyPr wrap="square" lIns="54864" tIns="38100" rIns="54864" bIns="38100" anchor="t">
            <a:spAutoFit/>
          </a:bodyPr>
          <a:lstStyle/>
          <a:p>
            <a:pPr algn="l">
              <a:spcAft>
                <a:spcPts val="400"/>
              </a:spcAft>
            </a:pPr>
            <a:r>
              <a:rPr sz="1150" b="0" i="0" dirty="0">
                <a:solidFill>
                  <a:srgbClr val="6B7688"/>
                </a:solidFill>
                <a:latin typeface="Calibri"/>
              </a:rPr>
              <a:t>prec@8</a:t>
            </a:r>
          </a:p>
        </p:txBody>
      </p:sp>
      <p:sp>
        <p:nvSpPr>
          <p:cNvPr id="22" name="Rectangle 21"/>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24" name="TextBox 23"/>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06 / 11</a:t>
            </a:r>
          </a:p>
        </p:txBody>
      </p:sp>
    </p:spTree>
    <p:extLst>
      <p:ext uri="{BB962C8B-B14F-4D97-AF65-F5344CB8AC3E}">
        <p14:creationId xmlns:p14="http://schemas.microsoft.com/office/powerpoint/2010/main" val="4056391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07  ·  THE DEEP MODEL</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lgn="l">
              <a:spcAft>
                <a:spcPts val="400"/>
              </a:spcAft>
            </a:pPr>
            <a:r>
              <a:rPr sz="2800" b="0" i="0" dirty="0">
                <a:solidFill>
                  <a:srgbClr val="0E1B2E"/>
                </a:solidFill>
                <a:latin typeface="Cambria" panose="02040503050406030204" pitchFamily="18" charset="0"/>
                <a:ea typeface="Cambria" panose="02040503050406030204" pitchFamily="18" charset="0"/>
              </a:rPr>
              <a:t>A CNN that reads with attention</a:t>
            </a: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hevron 5"/>
          <p:cNvSpPr/>
          <p:nvPr/>
        </p:nvSpPr>
        <p:spPr>
          <a:xfrm>
            <a:off x="658368" y="1965960"/>
            <a:ext cx="2395728" cy="1005840"/>
          </a:xfrm>
          <a:prstGeom prst="chevron">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0"/>
              </a:spcAft>
            </a:pPr>
            <a:r>
              <a:rPr sz="1200" b="1" i="0">
                <a:solidFill>
                  <a:srgbClr val="FFFFFF"/>
                </a:solidFill>
                <a:latin typeface="Calibri"/>
              </a:rPr>
              <a:t>Discharge</a:t>
            </a:r>
          </a:p>
          <a:p>
            <a:pPr algn="ctr">
              <a:spcAft>
                <a:spcPts val="0"/>
              </a:spcAft>
            </a:pPr>
            <a:r>
              <a:rPr sz="1200" b="1" i="0">
                <a:solidFill>
                  <a:srgbClr val="FFFFFF"/>
                </a:solidFill>
                <a:latin typeface="Calibri"/>
              </a:rPr>
              <a:t>summary</a:t>
            </a:r>
          </a:p>
        </p:txBody>
      </p:sp>
      <p:sp>
        <p:nvSpPr>
          <p:cNvPr id="7" name="Chevron 6"/>
          <p:cNvSpPr/>
          <p:nvPr/>
        </p:nvSpPr>
        <p:spPr>
          <a:xfrm>
            <a:off x="2743200" y="1965960"/>
            <a:ext cx="2395728" cy="1005840"/>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0"/>
              </a:spcAft>
            </a:pPr>
            <a:r>
              <a:rPr sz="1200" b="1" i="0">
                <a:solidFill>
                  <a:srgbClr val="FFFFFF"/>
                </a:solidFill>
                <a:latin typeface="Calibri"/>
              </a:rPr>
              <a:t>Word</a:t>
            </a:r>
          </a:p>
          <a:p>
            <a:pPr algn="ctr">
              <a:spcAft>
                <a:spcPts val="0"/>
              </a:spcAft>
            </a:pPr>
            <a:r>
              <a:rPr sz="1200" b="1" i="0">
                <a:solidFill>
                  <a:srgbClr val="FFFFFF"/>
                </a:solidFill>
                <a:latin typeface="Calibri"/>
              </a:rPr>
              <a:t>embeddings</a:t>
            </a:r>
          </a:p>
        </p:txBody>
      </p:sp>
      <p:sp>
        <p:nvSpPr>
          <p:cNvPr id="8" name="Chevron 7"/>
          <p:cNvSpPr/>
          <p:nvPr/>
        </p:nvSpPr>
        <p:spPr>
          <a:xfrm>
            <a:off x="4828032" y="1965960"/>
            <a:ext cx="2395728" cy="1005840"/>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0"/>
              </a:spcAft>
            </a:pPr>
            <a:r>
              <a:rPr sz="1200" b="1" i="0">
                <a:solidFill>
                  <a:srgbClr val="FFFFFF"/>
                </a:solidFill>
                <a:latin typeface="Calibri"/>
              </a:rPr>
              <a:t>1-D</a:t>
            </a:r>
          </a:p>
          <a:p>
            <a:pPr algn="ctr">
              <a:spcAft>
                <a:spcPts val="0"/>
              </a:spcAft>
            </a:pPr>
            <a:r>
              <a:rPr sz="1200" b="1" i="0">
                <a:solidFill>
                  <a:srgbClr val="FFFFFF"/>
                </a:solidFill>
                <a:latin typeface="Calibri"/>
              </a:rPr>
              <a:t>convolution</a:t>
            </a:r>
          </a:p>
        </p:txBody>
      </p:sp>
      <p:sp>
        <p:nvSpPr>
          <p:cNvPr id="9" name="Chevron 8"/>
          <p:cNvSpPr/>
          <p:nvPr/>
        </p:nvSpPr>
        <p:spPr>
          <a:xfrm>
            <a:off x="6912864" y="1965960"/>
            <a:ext cx="2395728" cy="1005840"/>
          </a:xfrm>
          <a:prstGeom prst="chevron">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0"/>
              </a:spcAft>
            </a:pPr>
            <a:r>
              <a:rPr sz="1200" b="1" i="0">
                <a:solidFill>
                  <a:srgbClr val="FFFFFF"/>
                </a:solidFill>
                <a:latin typeface="Calibri"/>
              </a:rPr>
              <a:t>Per-label</a:t>
            </a:r>
          </a:p>
          <a:p>
            <a:pPr algn="ctr">
              <a:spcAft>
                <a:spcPts val="0"/>
              </a:spcAft>
            </a:pPr>
            <a:r>
              <a:rPr sz="1200" b="1" i="0">
                <a:solidFill>
                  <a:srgbClr val="FFFFFF"/>
                </a:solidFill>
                <a:latin typeface="Calibri"/>
              </a:rPr>
              <a:t>attention</a:t>
            </a:r>
          </a:p>
        </p:txBody>
      </p:sp>
      <p:sp>
        <p:nvSpPr>
          <p:cNvPr id="10" name="Chevron 9"/>
          <p:cNvSpPr/>
          <p:nvPr/>
        </p:nvSpPr>
        <p:spPr>
          <a:xfrm>
            <a:off x="8997696" y="1965960"/>
            <a:ext cx="2395728" cy="1005840"/>
          </a:xfrm>
          <a:prstGeom prst="chevron">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0"/>
              </a:spcAft>
            </a:pPr>
            <a:r>
              <a:rPr sz="1200" b="1" i="0">
                <a:solidFill>
                  <a:srgbClr val="FFFFFF"/>
                </a:solidFill>
                <a:latin typeface="Calibri"/>
              </a:rPr>
              <a:t>50 code</a:t>
            </a:r>
          </a:p>
          <a:p>
            <a:pPr algn="ctr">
              <a:spcAft>
                <a:spcPts val="0"/>
              </a:spcAft>
            </a:pPr>
            <a:r>
              <a:rPr sz="1200" b="1" i="0">
                <a:solidFill>
                  <a:srgbClr val="FFFFFF"/>
                </a:solidFill>
                <a:latin typeface="Calibri"/>
              </a:rPr>
              <a:t>probabilities</a:t>
            </a:r>
          </a:p>
        </p:txBody>
      </p:sp>
      <p:sp>
        <p:nvSpPr>
          <p:cNvPr id="11" name="Rounded Rectangle 10"/>
          <p:cNvSpPr/>
          <p:nvPr/>
        </p:nvSpPr>
        <p:spPr>
          <a:xfrm>
            <a:off x="640080" y="3337560"/>
            <a:ext cx="3502152" cy="1874519"/>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3337560"/>
            <a:ext cx="3502152" cy="91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59" y="3520440"/>
            <a:ext cx="3154680" cy="300082"/>
          </a:xfrm>
          <a:prstGeom prst="rect">
            <a:avLst/>
          </a:prstGeom>
          <a:noFill/>
        </p:spPr>
        <p:txBody>
          <a:bodyPr wrap="square" lIns="54864" tIns="38100" rIns="54864" bIns="38100" anchor="t">
            <a:spAutoFit/>
          </a:bodyPr>
          <a:lstStyle/>
          <a:p>
            <a:pPr algn="l">
              <a:spcAft>
                <a:spcPts val="400"/>
              </a:spcAft>
            </a:pPr>
            <a:r>
              <a:rPr sz="1450" b="1" i="0" dirty="0">
                <a:solidFill>
                  <a:srgbClr val="0E1B2E"/>
                </a:solidFill>
                <a:latin typeface="Cambria" panose="02040503050406030204" pitchFamily="18" charset="0"/>
                <a:ea typeface="Cambria" panose="02040503050406030204" pitchFamily="18" charset="0"/>
              </a:rPr>
              <a:t>Embeddings</a:t>
            </a:r>
          </a:p>
        </p:txBody>
      </p:sp>
      <p:sp>
        <p:nvSpPr>
          <p:cNvPr id="14" name="TextBox 13"/>
          <p:cNvSpPr txBox="1"/>
          <p:nvPr/>
        </p:nvSpPr>
        <p:spPr>
          <a:xfrm>
            <a:off x="822959" y="3950208"/>
            <a:ext cx="3200400" cy="1188720"/>
          </a:xfrm>
          <a:prstGeom prst="rect">
            <a:avLst/>
          </a:prstGeom>
          <a:noFill/>
        </p:spPr>
        <p:txBody>
          <a:bodyPr wrap="square" lIns="54864" tIns="38100" rIns="54864" bIns="38100" anchor="t">
            <a:spAutoFit/>
          </a:bodyPr>
          <a:lstStyle/>
          <a:p>
            <a:pPr algn="l">
              <a:spcAft>
                <a:spcPts val="400"/>
              </a:spcAft>
            </a:pPr>
            <a:r>
              <a:rPr sz="1200" b="0" i="0">
                <a:solidFill>
                  <a:srgbClr val="384457"/>
                </a:solidFill>
                <a:latin typeface="Calibri"/>
              </a:rPr>
              <a:t>each word becomes a learned vector, so related words sit near each other</a:t>
            </a:r>
          </a:p>
        </p:txBody>
      </p:sp>
      <p:sp>
        <p:nvSpPr>
          <p:cNvPr id="15" name="Rounded Rectangle 14"/>
          <p:cNvSpPr/>
          <p:nvPr/>
        </p:nvSpPr>
        <p:spPr>
          <a:xfrm>
            <a:off x="4343400" y="3337560"/>
            <a:ext cx="3502152" cy="1874519"/>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43400" y="3337560"/>
            <a:ext cx="3502152" cy="91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26280" y="3520440"/>
            <a:ext cx="3154680" cy="300082"/>
          </a:xfrm>
          <a:prstGeom prst="rect">
            <a:avLst/>
          </a:prstGeom>
          <a:noFill/>
        </p:spPr>
        <p:txBody>
          <a:bodyPr wrap="square" lIns="54864" tIns="38100" rIns="54864" bIns="38100" anchor="t">
            <a:spAutoFit/>
          </a:bodyPr>
          <a:lstStyle/>
          <a:p>
            <a:pPr algn="l">
              <a:spcAft>
                <a:spcPts val="400"/>
              </a:spcAft>
            </a:pPr>
            <a:r>
              <a:rPr sz="1450" b="1" i="0" dirty="0">
                <a:solidFill>
                  <a:srgbClr val="0E1B2E"/>
                </a:solidFill>
                <a:latin typeface="Cambria" panose="02040503050406030204" pitchFamily="18" charset="0"/>
                <a:ea typeface="Cambria" panose="02040503050406030204" pitchFamily="18" charset="0"/>
              </a:rPr>
              <a:t>Convolution</a:t>
            </a:r>
          </a:p>
        </p:txBody>
      </p:sp>
      <p:sp>
        <p:nvSpPr>
          <p:cNvPr id="18" name="TextBox 17"/>
          <p:cNvSpPr txBox="1"/>
          <p:nvPr/>
        </p:nvSpPr>
        <p:spPr>
          <a:xfrm>
            <a:off x="4526280" y="3950208"/>
            <a:ext cx="3200400" cy="1188720"/>
          </a:xfrm>
          <a:prstGeom prst="rect">
            <a:avLst/>
          </a:prstGeom>
          <a:noFill/>
        </p:spPr>
        <p:txBody>
          <a:bodyPr wrap="square" lIns="54864" tIns="38100" rIns="54864" bIns="38100" anchor="t">
            <a:spAutoFit/>
          </a:bodyPr>
          <a:lstStyle/>
          <a:p>
            <a:pPr algn="l">
              <a:spcAft>
                <a:spcPts val="400"/>
              </a:spcAft>
            </a:pPr>
            <a:r>
              <a:rPr sz="1200" b="0" i="0">
                <a:solidFill>
                  <a:srgbClr val="384457"/>
                </a:solidFill>
                <a:latin typeface="Calibri"/>
              </a:rPr>
              <a:t>slides a 10-word window across the note, a learned phrase detector</a:t>
            </a:r>
          </a:p>
        </p:txBody>
      </p:sp>
      <p:sp>
        <p:nvSpPr>
          <p:cNvPr id="19" name="Rounded Rectangle 18"/>
          <p:cNvSpPr/>
          <p:nvPr/>
        </p:nvSpPr>
        <p:spPr>
          <a:xfrm>
            <a:off x="8046720" y="3337560"/>
            <a:ext cx="3502152" cy="1874519"/>
          </a:xfrm>
          <a:prstGeom prst="roundRect">
            <a:avLst>
              <a:gd name="adj" fmla="val 5000"/>
            </a:avLst>
          </a:prstGeom>
          <a:solidFill>
            <a:srgbClr val="FCF4DE"/>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46720" y="3337560"/>
            <a:ext cx="3502152" cy="91440"/>
          </a:xfrm>
          <a:prstGeom prst="rect">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0" y="3520440"/>
            <a:ext cx="3154680" cy="300082"/>
          </a:xfrm>
          <a:prstGeom prst="rect">
            <a:avLst/>
          </a:prstGeom>
          <a:noFill/>
        </p:spPr>
        <p:txBody>
          <a:bodyPr wrap="square" lIns="54864" tIns="38100" rIns="54864" bIns="38100" anchor="t">
            <a:spAutoFit/>
          </a:bodyPr>
          <a:lstStyle/>
          <a:p>
            <a:pPr algn="l">
              <a:spcAft>
                <a:spcPts val="400"/>
              </a:spcAft>
            </a:pPr>
            <a:r>
              <a:rPr sz="1450" b="1" i="0" dirty="0">
                <a:solidFill>
                  <a:srgbClr val="0E1B2E"/>
                </a:solidFill>
                <a:latin typeface="Cambria" panose="02040503050406030204" pitchFamily="18" charset="0"/>
                <a:ea typeface="Cambria" panose="02040503050406030204" pitchFamily="18" charset="0"/>
              </a:rPr>
              <a:t>Per-label attention</a:t>
            </a:r>
          </a:p>
        </p:txBody>
      </p:sp>
      <p:sp>
        <p:nvSpPr>
          <p:cNvPr id="22" name="TextBox 21"/>
          <p:cNvSpPr txBox="1"/>
          <p:nvPr/>
        </p:nvSpPr>
        <p:spPr>
          <a:xfrm>
            <a:off x="8229600" y="3950208"/>
            <a:ext cx="3200400" cy="1188720"/>
          </a:xfrm>
          <a:prstGeom prst="rect">
            <a:avLst/>
          </a:prstGeom>
          <a:noFill/>
        </p:spPr>
        <p:txBody>
          <a:bodyPr wrap="square" lIns="54864" tIns="38100" rIns="54864" bIns="38100" anchor="t">
            <a:spAutoFit/>
          </a:bodyPr>
          <a:lstStyle/>
          <a:p>
            <a:pPr algn="l">
              <a:spcAft>
                <a:spcPts val="400"/>
              </a:spcAft>
            </a:pPr>
            <a:r>
              <a:rPr sz="1200" b="0" i="0">
                <a:solidFill>
                  <a:srgbClr val="384457"/>
                </a:solidFill>
                <a:latin typeface="Calibri"/>
              </a:rPr>
              <a:t>each code focuses on its own phrases: heart failure looks elsewhere than diabetes</a:t>
            </a:r>
          </a:p>
        </p:txBody>
      </p:sp>
      <p:sp>
        <p:nvSpPr>
          <p:cNvPr id="23" name="TextBox 22"/>
          <p:cNvSpPr txBox="1"/>
          <p:nvPr/>
        </p:nvSpPr>
        <p:spPr>
          <a:xfrm>
            <a:off x="640080" y="5440680"/>
            <a:ext cx="10972800" cy="365760"/>
          </a:xfrm>
          <a:prstGeom prst="rect">
            <a:avLst/>
          </a:prstGeom>
          <a:noFill/>
        </p:spPr>
        <p:txBody>
          <a:bodyPr wrap="square" lIns="54864" tIns="38100" rIns="54864" bIns="38100" anchor="t">
            <a:spAutoFit/>
          </a:bodyPr>
          <a:lstStyle/>
          <a:p>
            <a:pPr algn="l">
              <a:spcAft>
                <a:spcPts val="400"/>
              </a:spcAft>
            </a:pPr>
            <a:r>
              <a:rPr sz="1200" b="0" i="1">
                <a:solidFill>
                  <a:srgbClr val="6B7688"/>
                </a:solidFill>
                <a:latin typeface="Calibri"/>
              </a:rPr>
              <a:t>The CAML architecture (Mullenbach et al., 2018)  ·  a real convolutional network, trained from scratch in ~16 min on CPU  ·  15 epochs</a:t>
            </a:r>
          </a:p>
        </p:txBody>
      </p:sp>
      <p:sp>
        <p:nvSpPr>
          <p:cNvPr id="24" name="Rectangle 23"/>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26" name="TextBox 25"/>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07 / 11</a:t>
            </a:r>
          </a:p>
        </p:txBody>
      </p:sp>
    </p:spTree>
    <p:extLst>
      <p:ext uri="{BB962C8B-B14F-4D97-AF65-F5344CB8AC3E}">
        <p14:creationId xmlns:p14="http://schemas.microsoft.com/office/powerpoint/2010/main" val="368616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08  ·  RESULTS</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lgn="l">
              <a:spcAft>
                <a:spcPts val="400"/>
              </a:spcAft>
            </a:pPr>
            <a:r>
              <a:rPr sz="2800" b="0" i="0" dirty="0">
                <a:solidFill>
                  <a:srgbClr val="0E1B2E"/>
                </a:solidFill>
                <a:latin typeface="Cambria" panose="02040503050406030204" pitchFamily="18" charset="0"/>
                <a:ea typeface="Cambria" panose="02040503050406030204" pitchFamily="18" charset="0"/>
              </a:rPr>
              <a:t>Does the deep model earn its keep?</a:t>
            </a: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965960"/>
            <a:ext cx="5029200" cy="3246120"/>
          </a:xfrm>
          <a:prstGeom prst="roundRect">
            <a:avLst>
              <a:gd name="adj" fmla="val 5000"/>
            </a:avLst>
          </a:prstGeom>
          <a:solidFill>
            <a:srgbClr val="EEF2F7"/>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19672" y="1965960"/>
            <a:ext cx="5029200" cy="3246120"/>
          </a:xfrm>
          <a:prstGeom prst="roundRect">
            <a:avLst>
              <a:gd name="adj" fmla="val 4000"/>
            </a:avLst>
          </a:prstGeom>
          <a:solidFill>
            <a:srgbClr val="16294A"/>
          </a:solidFill>
          <a:ln w="12700">
            <a:solidFill>
              <a:srgbClr val="16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121408"/>
            <a:ext cx="4572000" cy="320040"/>
          </a:xfrm>
          <a:prstGeom prst="rect">
            <a:avLst/>
          </a:prstGeom>
          <a:noFill/>
        </p:spPr>
        <p:txBody>
          <a:bodyPr wrap="square" lIns="54864" tIns="38100" rIns="54864" bIns="38100" anchor="t">
            <a:spAutoFit/>
          </a:bodyPr>
          <a:lstStyle/>
          <a:p>
            <a:pPr algn="l">
              <a:spcAft>
                <a:spcPts val="400"/>
              </a:spcAft>
            </a:pPr>
            <a:r>
              <a:rPr sz="1200" b="1" i="0">
                <a:solidFill>
                  <a:srgbClr val="384457"/>
                </a:solidFill>
                <a:latin typeface="Calibri"/>
              </a:rPr>
              <a:t>TF-IDF + LOGISTIC REGRESSION</a:t>
            </a:r>
          </a:p>
        </p:txBody>
      </p:sp>
      <p:sp>
        <p:nvSpPr>
          <p:cNvPr id="9" name="TextBox 8"/>
          <p:cNvSpPr txBox="1"/>
          <p:nvPr/>
        </p:nvSpPr>
        <p:spPr>
          <a:xfrm>
            <a:off x="868680" y="2432304"/>
            <a:ext cx="4572000" cy="274320"/>
          </a:xfrm>
          <a:prstGeom prst="rect">
            <a:avLst/>
          </a:prstGeom>
          <a:noFill/>
        </p:spPr>
        <p:txBody>
          <a:bodyPr wrap="square" lIns="54864" tIns="38100" rIns="54864" bIns="38100" anchor="t">
            <a:spAutoFit/>
          </a:bodyPr>
          <a:lstStyle/>
          <a:p>
            <a:pPr algn="l">
              <a:spcAft>
                <a:spcPts val="400"/>
              </a:spcAft>
            </a:pPr>
            <a:r>
              <a:rPr sz="1100" b="0" i="1">
                <a:solidFill>
                  <a:srgbClr val="6B7688"/>
                </a:solidFill>
                <a:latin typeface="Calibri"/>
              </a:rPr>
              <a:t>the baseline</a:t>
            </a:r>
          </a:p>
        </p:txBody>
      </p:sp>
      <p:sp>
        <p:nvSpPr>
          <p:cNvPr id="10" name="TextBox 9"/>
          <p:cNvSpPr txBox="1"/>
          <p:nvPr/>
        </p:nvSpPr>
        <p:spPr>
          <a:xfrm>
            <a:off x="6748272" y="2121408"/>
            <a:ext cx="4572000" cy="320040"/>
          </a:xfrm>
          <a:prstGeom prst="rect">
            <a:avLst/>
          </a:prstGeom>
          <a:noFill/>
        </p:spPr>
        <p:txBody>
          <a:bodyPr wrap="square" lIns="54864" tIns="38100" rIns="54864" bIns="38100" anchor="t">
            <a:spAutoFit/>
          </a:bodyPr>
          <a:lstStyle/>
          <a:p>
            <a:pPr algn="l">
              <a:spcAft>
                <a:spcPts val="400"/>
              </a:spcAft>
            </a:pPr>
            <a:r>
              <a:rPr sz="1200" b="1" i="0">
                <a:solidFill>
                  <a:srgbClr val="33B3C6"/>
                </a:solidFill>
                <a:latin typeface="Calibri"/>
              </a:rPr>
              <a:t>CNN + PER-LABEL ATTENTION</a:t>
            </a:r>
          </a:p>
        </p:txBody>
      </p:sp>
      <p:sp>
        <p:nvSpPr>
          <p:cNvPr id="11" name="TextBox 10"/>
          <p:cNvSpPr txBox="1"/>
          <p:nvPr/>
        </p:nvSpPr>
        <p:spPr>
          <a:xfrm>
            <a:off x="6748272" y="2432304"/>
            <a:ext cx="4572000" cy="274320"/>
          </a:xfrm>
          <a:prstGeom prst="rect">
            <a:avLst/>
          </a:prstGeom>
          <a:noFill/>
        </p:spPr>
        <p:txBody>
          <a:bodyPr wrap="square" lIns="54864" tIns="38100" rIns="54864" bIns="38100" anchor="t">
            <a:spAutoFit/>
          </a:bodyPr>
          <a:lstStyle/>
          <a:p>
            <a:pPr algn="l">
              <a:spcAft>
                <a:spcPts val="400"/>
              </a:spcAft>
            </a:pPr>
            <a:r>
              <a:rPr sz="1100" b="0" i="1">
                <a:solidFill>
                  <a:srgbClr val="C9D6E4"/>
                </a:solidFill>
                <a:latin typeface="Calibri"/>
              </a:rPr>
              <a:t>the deep model</a:t>
            </a:r>
          </a:p>
        </p:txBody>
      </p:sp>
      <p:sp>
        <p:nvSpPr>
          <p:cNvPr id="12" name="TextBox 11"/>
          <p:cNvSpPr txBox="1"/>
          <p:nvPr/>
        </p:nvSpPr>
        <p:spPr>
          <a:xfrm>
            <a:off x="868680" y="2926080"/>
            <a:ext cx="2377440" cy="365760"/>
          </a:xfrm>
          <a:prstGeom prst="rect">
            <a:avLst/>
          </a:prstGeom>
          <a:noFill/>
        </p:spPr>
        <p:txBody>
          <a:bodyPr wrap="square" lIns="54864" tIns="38100" rIns="54864" bIns="38100" anchor="ctr">
            <a:spAutoFit/>
          </a:bodyPr>
          <a:lstStyle/>
          <a:p>
            <a:pPr algn="l">
              <a:spcAft>
                <a:spcPts val="400"/>
              </a:spcAft>
            </a:pPr>
            <a:r>
              <a:rPr sz="1300" b="0" i="0">
                <a:solidFill>
                  <a:srgbClr val="384457"/>
                </a:solidFill>
                <a:latin typeface="Calibri"/>
              </a:rPr>
              <a:t>Micro-F1</a:t>
            </a:r>
          </a:p>
        </p:txBody>
      </p:sp>
      <p:sp>
        <p:nvSpPr>
          <p:cNvPr id="13" name="TextBox 12"/>
          <p:cNvSpPr txBox="1"/>
          <p:nvPr/>
        </p:nvSpPr>
        <p:spPr>
          <a:xfrm>
            <a:off x="3383280" y="2898648"/>
            <a:ext cx="2103120" cy="411480"/>
          </a:xfrm>
          <a:prstGeom prst="rect">
            <a:avLst/>
          </a:prstGeom>
          <a:noFill/>
        </p:spPr>
        <p:txBody>
          <a:bodyPr wrap="square" lIns="54864" tIns="38100" rIns="54864" bIns="38100" anchor="ctr">
            <a:spAutoFit/>
          </a:bodyPr>
          <a:lstStyle/>
          <a:p>
            <a:pPr algn="r">
              <a:spcAft>
                <a:spcPts val="400"/>
              </a:spcAft>
            </a:pPr>
            <a:r>
              <a:rPr sz="2000" b="0" i="0">
                <a:solidFill>
                  <a:srgbClr val="384457"/>
                </a:solidFill>
                <a:latin typeface="Calibri Light"/>
              </a:rPr>
              <a:t>0.602</a:t>
            </a:r>
          </a:p>
        </p:txBody>
      </p:sp>
      <p:sp>
        <p:nvSpPr>
          <p:cNvPr id="14" name="TextBox 13"/>
          <p:cNvSpPr txBox="1"/>
          <p:nvPr/>
        </p:nvSpPr>
        <p:spPr>
          <a:xfrm>
            <a:off x="6748272" y="2926080"/>
            <a:ext cx="2377440" cy="365760"/>
          </a:xfrm>
          <a:prstGeom prst="rect">
            <a:avLst/>
          </a:prstGeom>
          <a:noFill/>
        </p:spPr>
        <p:txBody>
          <a:bodyPr wrap="square" lIns="54864" tIns="38100" rIns="54864" bIns="38100" anchor="ctr">
            <a:spAutoFit/>
          </a:bodyPr>
          <a:lstStyle/>
          <a:p>
            <a:pPr algn="l">
              <a:spcAft>
                <a:spcPts val="400"/>
              </a:spcAft>
            </a:pPr>
            <a:r>
              <a:rPr sz="1300" b="0" i="0">
                <a:solidFill>
                  <a:srgbClr val="C9D6E4"/>
                </a:solidFill>
                <a:latin typeface="Calibri"/>
              </a:rPr>
              <a:t>Micro-F1</a:t>
            </a:r>
          </a:p>
        </p:txBody>
      </p:sp>
      <p:sp>
        <p:nvSpPr>
          <p:cNvPr id="15" name="TextBox 14"/>
          <p:cNvSpPr txBox="1"/>
          <p:nvPr/>
        </p:nvSpPr>
        <p:spPr>
          <a:xfrm>
            <a:off x="9235440" y="2898648"/>
            <a:ext cx="2103120" cy="411480"/>
          </a:xfrm>
          <a:prstGeom prst="rect">
            <a:avLst/>
          </a:prstGeom>
          <a:noFill/>
        </p:spPr>
        <p:txBody>
          <a:bodyPr wrap="square" lIns="54864" tIns="38100" rIns="54864" bIns="38100" anchor="ctr">
            <a:spAutoFit/>
          </a:bodyPr>
          <a:lstStyle/>
          <a:p>
            <a:pPr algn="r">
              <a:spcAft>
                <a:spcPts val="400"/>
              </a:spcAft>
            </a:pPr>
            <a:r>
              <a:rPr sz="2000" b="1" i="0">
                <a:solidFill>
                  <a:srgbClr val="E8B23A"/>
                </a:solidFill>
                <a:latin typeface="Calibri Light"/>
              </a:rPr>
              <a:t>0.614</a:t>
            </a:r>
          </a:p>
        </p:txBody>
      </p:sp>
      <p:sp>
        <p:nvSpPr>
          <p:cNvPr id="16" name="Oval 15"/>
          <p:cNvSpPr/>
          <p:nvPr/>
        </p:nvSpPr>
        <p:spPr>
          <a:xfrm>
            <a:off x="11329415" y="3026664"/>
            <a:ext cx="109728" cy="109728"/>
          </a:xfrm>
          <a:prstGeom prst="ellipse">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3493008"/>
            <a:ext cx="2377440" cy="365760"/>
          </a:xfrm>
          <a:prstGeom prst="rect">
            <a:avLst/>
          </a:prstGeom>
          <a:noFill/>
        </p:spPr>
        <p:txBody>
          <a:bodyPr wrap="square" lIns="54864" tIns="38100" rIns="54864" bIns="38100" anchor="ctr">
            <a:spAutoFit/>
          </a:bodyPr>
          <a:lstStyle/>
          <a:p>
            <a:pPr algn="l">
              <a:spcAft>
                <a:spcPts val="400"/>
              </a:spcAft>
            </a:pPr>
            <a:r>
              <a:rPr sz="1300" b="0" i="0">
                <a:solidFill>
                  <a:srgbClr val="384457"/>
                </a:solidFill>
                <a:latin typeface="Calibri"/>
              </a:rPr>
              <a:t>Macro-F1</a:t>
            </a:r>
          </a:p>
        </p:txBody>
      </p:sp>
      <p:sp>
        <p:nvSpPr>
          <p:cNvPr id="18" name="TextBox 17"/>
          <p:cNvSpPr txBox="1"/>
          <p:nvPr/>
        </p:nvSpPr>
        <p:spPr>
          <a:xfrm>
            <a:off x="3383280" y="3465576"/>
            <a:ext cx="2103120" cy="411480"/>
          </a:xfrm>
          <a:prstGeom prst="rect">
            <a:avLst/>
          </a:prstGeom>
          <a:noFill/>
        </p:spPr>
        <p:txBody>
          <a:bodyPr wrap="square" lIns="54864" tIns="38100" rIns="54864" bIns="38100" anchor="ctr">
            <a:spAutoFit/>
          </a:bodyPr>
          <a:lstStyle/>
          <a:p>
            <a:pPr algn="r">
              <a:spcAft>
                <a:spcPts val="400"/>
              </a:spcAft>
            </a:pPr>
            <a:r>
              <a:rPr sz="2000" b="1" i="0">
                <a:solidFill>
                  <a:srgbClr val="E8B23A"/>
                </a:solidFill>
                <a:latin typeface="Calibri Light"/>
              </a:rPr>
              <a:t>0.533</a:t>
            </a:r>
          </a:p>
        </p:txBody>
      </p:sp>
      <p:sp>
        <p:nvSpPr>
          <p:cNvPr id="19" name="Oval 18"/>
          <p:cNvSpPr/>
          <p:nvPr/>
        </p:nvSpPr>
        <p:spPr>
          <a:xfrm>
            <a:off x="5449824" y="3593592"/>
            <a:ext cx="109728" cy="109728"/>
          </a:xfrm>
          <a:prstGeom prst="ellipse">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48272" y="3493008"/>
            <a:ext cx="2377440" cy="365760"/>
          </a:xfrm>
          <a:prstGeom prst="rect">
            <a:avLst/>
          </a:prstGeom>
          <a:noFill/>
        </p:spPr>
        <p:txBody>
          <a:bodyPr wrap="square" lIns="54864" tIns="38100" rIns="54864" bIns="38100" anchor="ctr">
            <a:spAutoFit/>
          </a:bodyPr>
          <a:lstStyle/>
          <a:p>
            <a:pPr algn="l">
              <a:spcAft>
                <a:spcPts val="400"/>
              </a:spcAft>
            </a:pPr>
            <a:r>
              <a:rPr sz="1300" b="0" i="0">
                <a:solidFill>
                  <a:srgbClr val="C9D6E4"/>
                </a:solidFill>
                <a:latin typeface="Calibri"/>
              </a:rPr>
              <a:t>Macro-F1</a:t>
            </a:r>
          </a:p>
        </p:txBody>
      </p:sp>
      <p:sp>
        <p:nvSpPr>
          <p:cNvPr id="21" name="TextBox 20"/>
          <p:cNvSpPr txBox="1"/>
          <p:nvPr/>
        </p:nvSpPr>
        <p:spPr>
          <a:xfrm>
            <a:off x="9235440" y="3465576"/>
            <a:ext cx="2103120" cy="411480"/>
          </a:xfrm>
          <a:prstGeom prst="rect">
            <a:avLst/>
          </a:prstGeom>
          <a:noFill/>
        </p:spPr>
        <p:txBody>
          <a:bodyPr wrap="square" lIns="54864" tIns="38100" rIns="54864" bIns="38100" anchor="ctr">
            <a:spAutoFit/>
          </a:bodyPr>
          <a:lstStyle/>
          <a:p>
            <a:pPr algn="r">
              <a:spcAft>
                <a:spcPts val="400"/>
              </a:spcAft>
            </a:pPr>
            <a:r>
              <a:rPr sz="2000" b="0" i="0">
                <a:solidFill>
                  <a:srgbClr val="FFFFFF"/>
                </a:solidFill>
                <a:latin typeface="Calibri Light"/>
              </a:rPr>
              <a:t>0.515</a:t>
            </a:r>
          </a:p>
        </p:txBody>
      </p:sp>
      <p:sp>
        <p:nvSpPr>
          <p:cNvPr id="22" name="TextBox 21"/>
          <p:cNvSpPr txBox="1"/>
          <p:nvPr/>
        </p:nvSpPr>
        <p:spPr>
          <a:xfrm>
            <a:off x="868680" y="4059936"/>
            <a:ext cx="2377440" cy="365760"/>
          </a:xfrm>
          <a:prstGeom prst="rect">
            <a:avLst/>
          </a:prstGeom>
          <a:noFill/>
        </p:spPr>
        <p:txBody>
          <a:bodyPr wrap="square" lIns="54864" tIns="38100" rIns="54864" bIns="38100" anchor="ctr">
            <a:spAutoFit/>
          </a:bodyPr>
          <a:lstStyle/>
          <a:p>
            <a:pPr algn="l">
              <a:spcAft>
                <a:spcPts val="400"/>
              </a:spcAft>
            </a:pPr>
            <a:r>
              <a:rPr sz="1300" b="0" i="0">
                <a:solidFill>
                  <a:srgbClr val="384457"/>
                </a:solidFill>
                <a:latin typeface="Calibri"/>
              </a:rPr>
              <a:t>Precision@5</a:t>
            </a:r>
          </a:p>
        </p:txBody>
      </p:sp>
      <p:sp>
        <p:nvSpPr>
          <p:cNvPr id="23" name="TextBox 22"/>
          <p:cNvSpPr txBox="1"/>
          <p:nvPr/>
        </p:nvSpPr>
        <p:spPr>
          <a:xfrm>
            <a:off x="3383280" y="4032504"/>
            <a:ext cx="2103120" cy="411480"/>
          </a:xfrm>
          <a:prstGeom prst="rect">
            <a:avLst/>
          </a:prstGeom>
          <a:noFill/>
        </p:spPr>
        <p:txBody>
          <a:bodyPr wrap="square" lIns="54864" tIns="38100" rIns="54864" bIns="38100" anchor="ctr">
            <a:spAutoFit/>
          </a:bodyPr>
          <a:lstStyle/>
          <a:p>
            <a:pPr algn="r">
              <a:spcAft>
                <a:spcPts val="400"/>
              </a:spcAft>
            </a:pPr>
            <a:r>
              <a:rPr sz="2000" b="0" i="0">
                <a:solidFill>
                  <a:srgbClr val="384457"/>
                </a:solidFill>
                <a:latin typeface="Calibri Light"/>
              </a:rPr>
              <a:t>0.520</a:t>
            </a:r>
          </a:p>
        </p:txBody>
      </p:sp>
      <p:sp>
        <p:nvSpPr>
          <p:cNvPr id="24" name="TextBox 23"/>
          <p:cNvSpPr txBox="1"/>
          <p:nvPr/>
        </p:nvSpPr>
        <p:spPr>
          <a:xfrm>
            <a:off x="6748272" y="4059936"/>
            <a:ext cx="2377440" cy="365760"/>
          </a:xfrm>
          <a:prstGeom prst="rect">
            <a:avLst/>
          </a:prstGeom>
          <a:noFill/>
        </p:spPr>
        <p:txBody>
          <a:bodyPr wrap="square" lIns="54864" tIns="38100" rIns="54864" bIns="38100" anchor="ctr">
            <a:spAutoFit/>
          </a:bodyPr>
          <a:lstStyle/>
          <a:p>
            <a:pPr algn="l">
              <a:spcAft>
                <a:spcPts val="400"/>
              </a:spcAft>
            </a:pPr>
            <a:r>
              <a:rPr sz="1300" b="0" i="0">
                <a:solidFill>
                  <a:srgbClr val="C9D6E4"/>
                </a:solidFill>
                <a:latin typeface="Calibri"/>
              </a:rPr>
              <a:t>Precision@5</a:t>
            </a:r>
          </a:p>
        </p:txBody>
      </p:sp>
      <p:sp>
        <p:nvSpPr>
          <p:cNvPr id="25" name="TextBox 24"/>
          <p:cNvSpPr txBox="1"/>
          <p:nvPr/>
        </p:nvSpPr>
        <p:spPr>
          <a:xfrm>
            <a:off x="9235440" y="4032504"/>
            <a:ext cx="2103120" cy="411480"/>
          </a:xfrm>
          <a:prstGeom prst="rect">
            <a:avLst/>
          </a:prstGeom>
          <a:noFill/>
        </p:spPr>
        <p:txBody>
          <a:bodyPr wrap="square" lIns="54864" tIns="38100" rIns="54864" bIns="38100" anchor="ctr">
            <a:spAutoFit/>
          </a:bodyPr>
          <a:lstStyle/>
          <a:p>
            <a:pPr algn="r">
              <a:spcAft>
                <a:spcPts val="400"/>
              </a:spcAft>
            </a:pPr>
            <a:r>
              <a:rPr sz="2000" b="1" i="0">
                <a:solidFill>
                  <a:srgbClr val="E8B23A"/>
                </a:solidFill>
                <a:latin typeface="Calibri Light"/>
              </a:rPr>
              <a:t>0.529</a:t>
            </a:r>
          </a:p>
        </p:txBody>
      </p:sp>
      <p:sp>
        <p:nvSpPr>
          <p:cNvPr id="26" name="Oval 25"/>
          <p:cNvSpPr/>
          <p:nvPr/>
        </p:nvSpPr>
        <p:spPr>
          <a:xfrm>
            <a:off x="11329415" y="4160520"/>
            <a:ext cx="109728" cy="109728"/>
          </a:xfrm>
          <a:prstGeom prst="ellipse">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4626864"/>
            <a:ext cx="2377440" cy="365760"/>
          </a:xfrm>
          <a:prstGeom prst="rect">
            <a:avLst/>
          </a:prstGeom>
          <a:noFill/>
        </p:spPr>
        <p:txBody>
          <a:bodyPr wrap="square" lIns="54864" tIns="38100" rIns="54864" bIns="38100" anchor="ctr">
            <a:spAutoFit/>
          </a:bodyPr>
          <a:lstStyle/>
          <a:p>
            <a:pPr algn="l">
              <a:spcAft>
                <a:spcPts val="400"/>
              </a:spcAft>
            </a:pPr>
            <a:r>
              <a:rPr sz="1300" b="0" i="0">
                <a:solidFill>
                  <a:srgbClr val="384457"/>
                </a:solidFill>
                <a:latin typeface="Calibri"/>
              </a:rPr>
              <a:t>Precision@8</a:t>
            </a:r>
          </a:p>
        </p:txBody>
      </p:sp>
      <p:sp>
        <p:nvSpPr>
          <p:cNvPr id="28" name="TextBox 27"/>
          <p:cNvSpPr txBox="1"/>
          <p:nvPr/>
        </p:nvSpPr>
        <p:spPr>
          <a:xfrm>
            <a:off x="3383280" y="4599432"/>
            <a:ext cx="2103120" cy="411480"/>
          </a:xfrm>
          <a:prstGeom prst="rect">
            <a:avLst/>
          </a:prstGeom>
          <a:noFill/>
        </p:spPr>
        <p:txBody>
          <a:bodyPr wrap="square" lIns="54864" tIns="38100" rIns="54864" bIns="38100" anchor="ctr">
            <a:spAutoFit/>
          </a:bodyPr>
          <a:lstStyle/>
          <a:p>
            <a:pPr algn="r">
              <a:spcAft>
                <a:spcPts val="400"/>
              </a:spcAft>
            </a:pPr>
            <a:r>
              <a:rPr sz="2000" b="0" i="0">
                <a:solidFill>
                  <a:srgbClr val="384457"/>
                </a:solidFill>
                <a:latin typeface="Calibri Light"/>
              </a:rPr>
              <a:t>0.408</a:t>
            </a:r>
          </a:p>
        </p:txBody>
      </p:sp>
      <p:sp>
        <p:nvSpPr>
          <p:cNvPr id="29" name="TextBox 28"/>
          <p:cNvSpPr txBox="1"/>
          <p:nvPr/>
        </p:nvSpPr>
        <p:spPr>
          <a:xfrm>
            <a:off x="6748272" y="4626864"/>
            <a:ext cx="2377440" cy="365760"/>
          </a:xfrm>
          <a:prstGeom prst="rect">
            <a:avLst/>
          </a:prstGeom>
          <a:noFill/>
        </p:spPr>
        <p:txBody>
          <a:bodyPr wrap="square" lIns="54864" tIns="38100" rIns="54864" bIns="38100" anchor="ctr">
            <a:spAutoFit/>
          </a:bodyPr>
          <a:lstStyle/>
          <a:p>
            <a:pPr algn="l">
              <a:spcAft>
                <a:spcPts val="400"/>
              </a:spcAft>
            </a:pPr>
            <a:r>
              <a:rPr sz="1300" b="0" i="0">
                <a:solidFill>
                  <a:srgbClr val="C9D6E4"/>
                </a:solidFill>
                <a:latin typeface="Calibri"/>
              </a:rPr>
              <a:t>Precision@8</a:t>
            </a:r>
          </a:p>
        </p:txBody>
      </p:sp>
      <p:sp>
        <p:nvSpPr>
          <p:cNvPr id="30" name="TextBox 29"/>
          <p:cNvSpPr txBox="1"/>
          <p:nvPr/>
        </p:nvSpPr>
        <p:spPr>
          <a:xfrm>
            <a:off x="9235440" y="4599432"/>
            <a:ext cx="2103120" cy="411480"/>
          </a:xfrm>
          <a:prstGeom prst="rect">
            <a:avLst/>
          </a:prstGeom>
          <a:noFill/>
        </p:spPr>
        <p:txBody>
          <a:bodyPr wrap="square" lIns="54864" tIns="38100" rIns="54864" bIns="38100" anchor="ctr">
            <a:spAutoFit/>
          </a:bodyPr>
          <a:lstStyle/>
          <a:p>
            <a:pPr algn="r">
              <a:spcAft>
                <a:spcPts val="400"/>
              </a:spcAft>
            </a:pPr>
            <a:r>
              <a:rPr sz="2000" b="0" i="0">
                <a:solidFill>
                  <a:srgbClr val="FFFFFF"/>
                </a:solidFill>
                <a:latin typeface="Calibri Light"/>
              </a:rPr>
              <a:t>0.408</a:t>
            </a:r>
          </a:p>
        </p:txBody>
      </p:sp>
      <p:sp>
        <p:nvSpPr>
          <p:cNvPr id="31" name="Oval 30"/>
          <p:cNvSpPr/>
          <p:nvPr/>
        </p:nvSpPr>
        <p:spPr>
          <a:xfrm>
            <a:off x="5788152" y="3310128"/>
            <a:ext cx="603504" cy="603504"/>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806440" y="3383280"/>
            <a:ext cx="566928" cy="457200"/>
          </a:xfrm>
          <a:prstGeom prst="rect">
            <a:avLst/>
          </a:prstGeom>
          <a:noFill/>
        </p:spPr>
        <p:txBody>
          <a:bodyPr wrap="square" lIns="54864" tIns="38100" rIns="54864" bIns="38100" anchor="ctr">
            <a:spAutoFit/>
          </a:bodyPr>
          <a:lstStyle/>
          <a:p>
            <a:pPr algn="ctr">
              <a:spcAft>
                <a:spcPts val="400"/>
              </a:spcAft>
            </a:pPr>
            <a:r>
              <a:rPr sz="1500" b="1" i="0">
                <a:solidFill>
                  <a:srgbClr val="6B7688"/>
                </a:solidFill>
                <a:latin typeface="Calibri"/>
              </a:rPr>
              <a:t>vs</a:t>
            </a:r>
          </a:p>
        </p:txBody>
      </p:sp>
      <p:sp>
        <p:nvSpPr>
          <p:cNvPr id="33" name="Rectangle 32"/>
          <p:cNvSpPr/>
          <p:nvPr/>
        </p:nvSpPr>
        <p:spPr>
          <a:xfrm>
            <a:off x="640080" y="5486400"/>
            <a:ext cx="82296" cy="475488"/>
          </a:xfrm>
          <a:prstGeom prst="rect">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8680" y="5496211"/>
            <a:ext cx="10424160" cy="492443"/>
          </a:xfrm>
          <a:prstGeom prst="rect">
            <a:avLst/>
          </a:prstGeom>
          <a:noFill/>
        </p:spPr>
        <p:txBody>
          <a:bodyPr wrap="square" lIns="54864" tIns="38100" rIns="54864" bIns="38100" anchor="ctr">
            <a:spAutoFit/>
          </a:bodyPr>
          <a:lstStyle/>
          <a:p>
            <a:pPr algn="l">
              <a:spcAft>
                <a:spcPts val="400"/>
              </a:spcAft>
            </a:pPr>
            <a:r>
              <a:rPr sz="1350" b="0" i="0">
                <a:solidFill>
                  <a:srgbClr val="0E1B2E"/>
                </a:solidFill>
                <a:latin typeface="Calibri"/>
              </a:rPr>
              <a:t>Close on accuracy: the CNN takes micro-F1 and P@5, the baseline holds macro-F1. The CNN also highlights the phrases it attended to for each prediction.</a:t>
            </a:r>
          </a:p>
        </p:txBody>
      </p:sp>
      <p:sp>
        <p:nvSpPr>
          <p:cNvPr id="35" name="Rectangle 34"/>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37" name="TextBox 36"/>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08 / 11</a:t>
            </a:r>
          </a:p>
        </p:txBody>
      </p:sp>
    </p:spTree>
    <p:extLst>
      <p:ext uri="{BB962C8B-B14F-4D97-AF65-F5344CB8AC3E}">
        <p14:creationId xmlns:p14="http://schemas.microsoft.com/office/powerpoint/2010/main" val="1386646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09  ·  EXPLAINABILITY</a:t>
            </a:r>
          </a:p>
        </p:txBody>
      </p:sp>
      <p:sp>
        <p:nvSpPr>
          <p:cNvPr id="4" name="TextBox 3"/>
          <p:cNvSpPr txBox="1"/>
          <p:nvPr/>
        </p:nvSpPr>
        <p:spPr>
          <a:xfrm>
            <a:off x="612648" y="676656"/>
            <a:ext cx="10927080" cy="446276"/>
          </a:xfrm>
          <a:prstGeom prst="rect">
            <a:avLst/>
          </a:prstGeom>
          <a:noFill/>
        </p:spPr>
        <p:txBody>
          <a:bodyPr wrap="square" lIns="54864" tIns="38100" rIns="54864" bIns="38100" anchor="t">
            <a:spAutoFit/>
          </a:bodyPr>
          <a:lstStyle/>
          <a:p>
            <a:pPr algn="l">
              <a:spcAft>
                <a:spcPts val="400"/>
              </a:spcAft>
            </a:pPr>
            <a:r>
              <a:rPr sz="2400" b="0" i="0" dirty="0">
                <a:solidFill>
                  <a:srgbClr val="0E1B2E"/>
                </a:solidFill>
                <a:latin typeface="Cambria" panose="02040503050406030204" pitchFamily="18" charset="0"/>
                <a:ea typeface="Cambria" panose="02040503050406030204" pitchFamily="18" charset="0"/>
              </a:rPr>
              <a:t>The model highlights the phrases it attended to for each prediction</a:t>
            </a:r>
          </a:p>
        </p:txBody>
      </p:sp>
      <p:sp>
        <p:nvSpPr>
          <p:cNvPr id="6" name="TextBox 5"/>
          <p:cNvSpPr txBox="1"/>
          <p:nvPr/>
        </p:nvSpPr>
        <p:spPr>
          <a:xfrm>
            <a:off x="640080" y="1828800"/>
            <a:ext cx="10881360" cy="548640"/>
          </a:xfrm>
          <a:prstGeom prst="rect">
            <a:avLst/>
          </a:prstGeom>
          <a:noFill/>
        </p:spPr>
        <p:txBody>
          <a:bodyPr wrap="square" lIns="54864" tIns="38100" rIns="54864" bIns="38100" anchor="t">
            <a:spAutoFit/>
          </a:bodyPr>
          <a:lstStyle/>
          <a:p>
            <a:pPr algn="l">
              <a:spcAft>
                <a:spcPts val="400"/>
              </a:spcAft>
            </a:pPr>
            <a:r>
              <a:rPr sz="1350" b="0" i="0">
                <a:solidFill>
                  <a:srgbClr val="384457"/>
                </a:solidFill>
                <a:latin typeface="Calibri"/>
              </a:rPr>
              <a:t>For a representative discharge summary, each predicted code exposes the phrase its attention focused on. The model does not just label; it points to its evidence, and a coder can confirm in seconds.</a:t>
            </a:r>
          </a:p>
        </p:txBody>
      </p:sp>
      <p:sp>
        <p:nvSpPr>
          <p:cNvPr id="7" name="Rounded Rectangle 6"/>
          <p:cNvSpPr/>
          <p:nvPr/>
        </p:nvSpPr>
        <p:spPr>
          <a:xfrm>
            <a:off x="640080" y="2450592"/>
            <a:ext cx="10908792" cy="658368"/>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450592"/>
            <a:ext cx="91440" cy="65836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514600"/>
            <a:ext cx="4114800" cy="301752"/>
          </a:xfrm>
          <a:prstGeom prst="rect">
            <a:avLst/>
          </a:prstGeom>
          <a:noFill/>
        </p:spPr>
        <p:txBody>
          <a:bodyPr wrap="square" lIns="54864" tIns="38100" rIns="54864" bIns="38100" anchor="t">
            <a:spAutoFit/>
          </a:bodyPr>
          <a:lstStyle/>
          <a:p>
            <a:pPr algn="l">
              <a:spcAft>
                <a:spcPts val="400"/>
              </a:spcAft>
            </a:pPr>
            <a:r>
              <a:rPr sz="1300" b="1" i="0">
                <a:solidFill>
                  <a:srgbClr val="0E1B2E"/>
                </a:solidFill>
                <a:latin typeface="Calibri"/>
              </a:rPr>
              <a:t>Hypothyroidism NOS</a:t>
            </a:r>
          </a:p>
        </p:txBody>
      </p:sp>
      <p:sp>
        <p:nvSpPr>
          <p:cNvPr id="10" name="TextBox 9"/>
          <p:cNvSpPr txBox="1"/>
          <p:nvPr/>
        </p:nvSpPr>
        <p:spPr>
          <a:xfrm>
            <a:off x="896112" y="2816352"/>
            <a:ext cx="4114800" cy="237744"/>
          </a:xfrm>
          <a:prstGeom prst="rect">
            <a:avLst/>
          </a:prstGeom>
          <a:noFill/>
        </p:spPr>
        <p:txBody>
          <a:bodyPr wrap="square" lIns="54864" tIns="38100" rIns="54864" bIns="38100" anchor="t">
            <a:spAutoFit/>
          </a:bodyPr>
          <a:lstStyle/>
          <a:p>
            <a:pPr algn="l">
              <a:spcAft>
                <a:spcPts val="400"/>
              </a:spcAft>
            </a:pPr>
            <a:r>
              <a:rPr sz="1000" b="0" i="0">
                <a:solidFill>
                  <a:srgbClr val="6B7688"/>
                </a:solidFill>
                <a:latin typeface="Consolas"/>
              </a:rPr>
              <a:t>ICD-9 2449</a:t>
            </a:r>
          </a:p>
        </p:txBody>
      </p:sp>
      <p:sp>
        <p:nvSpPr>
          <p:cNvPr id="11" name="TextBox 10"/>
          <p:cNvSpPr txBox="1"/>
          <p:nvPr/>
        </p:nvSpPr>
        <p:spPr>
          <a:xfrm>
            <a:off x="5029200" y="2478024"/>
            <a:ext cx="4983480" cy="402336"/>
          </a:xfrm>
          <a:prstGeom prst="rect">
            <a:avLst/>
          </a:prstGeom>
          <a:noFill/>
        </p:spPr>
        <p:txBody>
          <a:bodyPr wrap="square" lIns="54864" rIns="54864" anchor="ctr">
            <a:spAutoFit/>
          </a:bodyPr>
          <a:lstStyle/>
          <a:p>
            <a:pPr algn="l">
              <a:spcAft>
                <a:spcPts val="600"/>
              </a:spcAft>
            </a:pPr>
            <a:r>
              <a:rPr sz="1150" b="0" i="0">
                <a:solidFill>
                  <a:srgbClr val="6B7688"/>
                </a:solidFill>
                <a:latin typeface="Calibri"/>
              </a:rPr>
              <a:t>“… </a:t>
            </a:r>
            <a:r>
              <a:rPr sz="1150" b="1" i="0">
                <a:solidFill>
                  <a:srgbClr val="1F7A8C"/>
                </a:solidFill>
                <a:latin typeface="Consolas"/>
              </a:rPr>
              <a:t>daily levothyroxine listed among the home medications</a:t>
            </a:r>
            <a:r>
              <a:rPr sz="1150" b="0" i="0">
                <a:solidFill>
                  <a:srgbClr val="6B7688"/>
                </a:solidFill>
                <a:latin typeface="Calibri"/>
              </a:rPr>
              <a:t> …”</a:t>
            </a:r>
          </a:p>
        </p:txBody>
      </p:sp>
      <p:sp>
        <p:nvSpPr>
          <p:cNvPr id="12" name="TextBox 11"/>
          <p:cNvSpPr txBox="1"/>
          <p:nvPr/>
        </p:nvSpPr>
        <p:spPr>
          <a:xfrm>
            <a:off x="5047488" y="2871216"/>
            <a:ext cx="4983480" cy="219456"/>
          </a:xfrm>
          <a:prstGeom prst="rect">
            <a:avLst/>
          </a:prstGeom>
          <a:noFill/>
        </p:spPr>
        <p:txBody>
          <a:bodyPr wrap="square" lIns="54864" tIns="38100" rIns="54864" bIns="38100" anchor="t">
            <a:spAutoFit/>
          </a:bodyPr>
          <a:lstStyle/>
          <a:p>
            <a:pPr algn="l">
              <a:spcAft>
                <a:spcPts val="400"/>
              </a:spcAft>
            </a:pPr>
            <a:r>
              <a:rPr sz="900" b="1" i="0">
                <a:solidFill>
                  <a:srgbClr val="1F7A8C"/>
                </a:solidFill>
                <a:latin typeface="Calibri"/>
              </a:rPr>
              <a:t>correct</a:t>
            </a:r>
          </a:p>
        </p:txBody>
      </p:sp>
      <p:sp>
        <p:nvSpPr>
          <p:cNvPr id="13" name="Rounded Rectangle 12"/>
          <p:cNvSpPr/>
          <p:nvPr/>
        </p:nvSpPr>
        <p:spPr>
          <a:xfrm>
            <a:off x="10195560" y="2587752"/>
            <a:ext cx="868680" cy="384048"/>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100" b="1" i="0">
                <a:solidFill>
                  <a:srgbClr val="FFFFFF"/>
                </a:solidFill>
                <a:latin typeface="Calibri"/>
              </a:rPr>
              <a:t>p=0.97</a:t>
            </a:r>
          </a:p>
        </p:txBody>
      </p:sp>
      <p:sp>
        <p:nvSpPr>
          <p:cNvPr id="14" name="Rounded Rectangle 13"/>
          <p:cNvSpPr/>
          <p:nvPr/>
        </p:nvSpPr>
        <p:spPr>
          <a:xfrm>
            <a:off x="640080" y="3227832"/>
            <a:ext cx="10908792" cy="658368"/>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227832"/>
            <a:ext cx="91440" cy="65836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291840"/>
            <a:ext cx="4114800" cy="301752"/>
          </a:xfrm>
          <a:prstGeom prst="rect">
            <a:avLst/>
          </a:prstGeom>
          <a:noFill/>
        </p:spPr>
        <p:txBody>
          <a:bodyPr wrap="square" lIns="54864" tIns="38100" rIns="54864" bIns="38100" anchor="t">
            <a:spAutoFit/>
          </a:bodyPr>
          <a:lstStyle/>
          <a:p>
            <a:pPr algn="l">
              <a:spcAft>
                <a:spcPts val="400"/>
              </a:spcAft>
            </a:pPr>
            <a:r>
              <a:rPr sz="1300" b="1" i="0">
                <a:solidFill>
                  <a:srgbClr val="0E1B2E"/>
                </a:solidFill>
                <a:latin typeface="Calibri"/>
              </a:rPr>
              <a:t>Chronic kidney dis NOS</a:t>
            </a:r>
          </a:p>
        </p:txBody>
      </p:sp>
      <p:sp>
        <p:nvSpPr>
          <p:cNvPr id="17" name="TextBox 16"/>
          <p:cNvSpPr txBox="1"/>
          <p:nvPr/>
        </p:nvSpPr>
        <p:spPr>
          <a:xfrm>
            <a:off x="896112" y="3593592"/>
            <a:ext cx="4114800" cy="237744"/>
          </a:xfrm>
          <a:prstGeom prst="rect">
            <a:avLst/>
          </a:prstGeom>
          <a:noFill/>
        </p:spPr>
        <p:txBody>
          <a:bodyPr wrap="square" lIns="54864" tIns="38100" rIns="54864" bIns="38100" anchor="t">
            <a:spAutoFit/>
          </a:bodyPr>
          <a:lstStyle/>
          <a:p>
            <a:pPr algn="l">
              <a:spcAft>
                <a:spcPts val="400"/>
              </a:spcAft>
            </a:pPr>
            <a:r>
              <a:rPr sz="1000" b="0" i="0">
                <a:solidFill>
                  <a:srgbClr val="6B7688"/>
                </a:solidFill>
                <a:latin typeface="Consolas"/>
              </a:rPr>
              <a:t>ICD-9 5859</a:t>
            </a:r>
          </a:p>
        </p:txBody>
      </p:sp>
      <p:sp>
        <p:nvSpPr>
          <p:cNvPr id="18" name="TextBox 17"/>
          <p:cNvSpPr txBox="1"/>
          <p:nvPr/>
        </p:nvSpPr>
        <p:spPr>
          <a:xfrm>
            <a:off x="5029200" y="3255264"/>
            <a:ext cx="4983480" cy="402336"/>
          </a:xfrm>
          <a:prstGeom prst="rect">
            <a:avLst/>
          </a:prstGeom>
          <a:noFill/>
        </p:spPr>
        <p:txBody>
          <a:bodyPr wrap="square" lIns="54864" rIns="54864" anchor="ctr">
            <a:spAutoFit/>
          </a:bodyPr>
          <a:lstStyle/>
          <a:p>
            <a:pPr algn="l">
              <a:spcAft>
                <a:spcPts val="600"/>
              </a:spcAft>
            </a:pPr>
            <a:r>
              <a:rPr sz="1150" b="0" i="0">
                <a:solidFill>
                  <a:srgbClr val="6B7688"/>
                </a:solidFill>
                <a:latin typeface="Calibri"/>
              </a:rPr>
              <a:t>“… </a:t>
            </a:r>
            <a:r>
              <a:rPr sz="1150" b="1" i="0">
                <a:solidFill>
                  <a:srgbClr val="1F7A8C"/>
                </a:solidFill>
                <a:latin typeface="Consolas"/>
              </a:rPr>
              <a:t>chronic kidney disease in the past medical history</a:t>
            </a:r>
            <a:r>
              <a:rPr sz="1150" b="0" i="0">
                <a:solidFill>
                  <a:srgbClr val="6B7688"/>
                </a:solidFill>
                <a:latin typeface="Calibri"/>
              </a:rPr>
              <a:t> …”</a:t>
            </a:r>
          </a:p>
        </p:txBody>
      </p:sp>
      <p:sp>
        <p:nvSpPr>
          <p:cNvPr id="19" name="TextBox 18"/>
          <p:cNvSpPr txBox="1"/>
          <p:nvPr/>
        </p:nvSpPr>
        <p:spPr>
          <a:xfrm>
            <a:off x="5047488" y="3648456"/>
            <a:ext cx="4983480" cy="219456"/>
          </a:xfrm>
          <a:prstGeom prst="rect">
            <a:avLst/>
          </a:prstGeom>
          <a:noFill/>
        </p:spPr>
        <p:txBody>
          <a:bodyPr wrap="square" lIns="54864" tIns="38100" rIns="54864" bIns="38100" anchor="t">
            <a:spAutoFit/>
          </a:bodyPr>
          <a:lstStyle/>
          <a:p>
            <a:pPr algn="l">
              <a:spcAft>
                <a:spcPts val="400"/>
              </a:spcAft>
            </a:pPr>
            <a:r>
              <a:rPr sz="900" b="1" i="0">
                <a:solidFill>
                  <a:srgbClr val="1F7A8C"/>
                </a:solidFill>
                <a:latin typeface="Calibri"/>
              </a:rPr>
              <a:t>correct</a:t>
            </a:r>
          </a:p>
        </p:txBody>
      </p:sp>
      <p:sp>
        <p:nvSpPr>
          <p:cNvPr id="20" name="Rounded Rectangle 19"/>
          <p:cNvSpPr/>
          <p:nvPr/>
        </p:nvSpPr>
        <p:spPr>
          <a:xfrm>
            <a:off x="10195560" y="3364992"/>
            <a:ext cx="868680" cy="384048"/>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100" b="1" i="0">
                <a:solidFill>
                  <a:srgbClr val="FFFFFF"/>
                </a:solidFill>
                <a:latin typeface="Calibri"/>
              </a:rPr>
              <a:t>p=0.97</a:t>
            </a:r>
          </a:p>
        </p:txBody>
      </p:sp>
      <p:sp>
        <p:nvSpPr>
          <p:cNvPr id="21" name="Rounded Rectangle 20"/>
          <p:cNvSpPr/>
          <p:nvPr/>
        </p:nvSpPr>
        <p:spPr>
          <a:xfrm>
            <a:off x="640080" y="4005072"/>
            <a:ext cx="10908792" cy="658368"/>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4005072"/>
            <a:ext cx="91440" cy="65836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 y="4069080"/>
            <a:ext cx="4114800" cy="301752"/>
          </a:xfrm>
          <a:prstGeom prst="rect">
            <a:avLst/>
          </a:prstGeom>
          <a:noFill/>
        </p:spPr>
        <p:txBody>
          <a:bodyPr wrap="square" lIns="54864" tIns="38100" rIns="54864" bIns="38100" anchor="t">
            <a:spAutoFit/>
          </a:bodyPr>
          <a:lstStyle/>
          <a:p>
            <a:pPr algn="l">
              <a:spcAft>
                <a:spcPts val="400"/>
              </a:spcAft>
            </a:pPr>
            <a:r>
              <a:rPr sz="1300" b="1" i="0">
                <a:solidFill>
                  <a:srgbClr val="0E1B2E"/>
                </a:solidFill>
                <a:latin typeface="Calibri"/>
              </a:rPr>
              <a:t>Hy kid NOS w cr kid I-IV</a:t>
            </a:r>
          </a:p>
        </p:txBody>
      </p:sp>
      <p:sp>
        <p:nvSpPr>
          <p:cNvPr id="24" name="TextBox 23"/>
          <p:cNvSpPr txBox="1"/>
          <p:nvPr/>
        </p:nvSpPr>
        <p:spPr>
          <a:xfrm>
            <a:off x="896112" y="4370832"/>
            <a:ext cx="4114800" cy="237744"/>
          </a:xfrm>
          <a:prstGeom prst="rect">
            <a:avLst/>
          </a:prstGeom>
          <a:noFill/>
        </p:spPr>
        <p:txBody>
          <a:bodyPr wrap="square" lIns="54864" tIns="38100" rIns="54864" bIns="38100" anchor="t">
            <a:spAutoFit/>
          </a:bodyPr>
          <a:lstStyle/>
          <a:p>
            <a:pPr algn="l">
              <a:spcAft>
                <a:spcPts val="400"/>
              </a:spcAft>
            </a:pPr>
            <a:r>
              <a:rPr sz="1000" b="0" i="0">
                <a:solidFill>
                  <a:srgbClr val="6B7688"/>
                </a:solidFill>
                <a:latin typeface="Consolas"/>
              </a:rPr>
              <a:t>ICD-9 40390</a:t>
            </a:r>
          </a:p>
        </p:txBody>
      </p:sp>
      <p:sp>
        <p:nvSpPr>
          <p:cNvPr id="25" name="TextBox 24"/>
          <p:cNvSpPr txBox="1"/>
          <p:nvPr/>
        </p:nvSpPr>
        <p:spPr>
          <a:xfrm>
            <a:off x="5029200" y="4032504"/>
            <a:ext cx="4983480" cy="402336"/>
          </a:xfrm>
          <a:prstGeom prst="rect">
            <a:avLst/>
          </a:prstGeom>
          <a:noFill/>
        </p:spPr>
        <p:txBody>
          <a:bodyPr wrap="square" lIns="54864" rIns="54864" anchor="ctr">
            <a:spAutoFit/>
          </a:bodyPr>
          <a:lstStyle/>
          <a:p>
            <a:pPr algn="l">
              <a:spcAft>
                <a:spcPts val="600"/>
              </a:spcAft>
            </a:pPr>
            <a:r>
              <a:rPr sz="1150" b="0" i="0">
                <a:solidFill>
                  <a:srgbClr val="6B7688"/>
                </a:solidFill>
                <a:latin typeface="Calibri"/>
              </a:rPr>
              <a:t>“… </a:t>
            </a:r>
            <a:r>
              <a:rPr sz="1150" b="1" i="0">
                <a:solidFill>
                  <a:srgbClr val="1F7A8C"/>
                </a:solidFill>
                <a:latin typeface="Consolas"/>
              </a:rPr>
              <a:t>hypertension with chronic kidney disease and hyperlipidemia</a:t>
            </a:r>
            <a:r>
              <a:rPr sz="1150" b="0" i="0">
                <a:solidFill>
                  <a:srgbClr val="6B7688"/>
                </a:solidFill>
                <a:latin typeface="Calibri"/>
              </a:rPr>
              <a:t> …”</a:t>
            </a:r>
          </a:p>
        </p:txBody>
      </p:sp>
      <p:sp>
        <p:nvSpPr>
          <p:cNvPr id="26" name="TextBox 25"/>
          <p:cNvSpPr txBox="1"/>
          <p:nvPr/>
        </p:nvSpPr>
        <p:spPr>
          <a:xfrm>
            <a:off x="5047488" y="4425696"/>
            <a:ext cx="4983480" cy="219456"/>
          </a:xfrm>
          <a:prstGeom prst="rect">
            <a:avLst/>
          </a:prstGeom>
          <a:noFill/>
        </p:spPr>
        <p:txBody>
          <a:bodyPr wrap="square" lIns="54864" tIns="38100" rIns="54864" bIns="38100" anchor="t">
            <a:spAutoFit/>
          </a:bodyPr>
          <a:lstStyle/>
          <a:p>
            <a:pPr algn="l">
              <a:spcAft>
                <a:spcPts val="400"/>
              </a:spcAft>
            </a:pPr>
            <a:r>
              <a:rPr sz="900" b="1" i="0">
                <a:solidFill>
                  <a:srgbClr val="1F7A8C"/>
                </a:solidFill>
                <a:latin typeface="Calibri"/>
              </a:rPr>
              <a:t>correct</a:t>
            </a:r>
          </a:p>
        </p:txBody>
      </p:sp>
      <p:sp>
        <p:nvSpPr>
          <p:cNvPr id="27" name="Rounded Rectangle 26"/>
          <p:cNvSpPr/>
          <p:nvPr/>
        </p:nvSpPr>
        <p:spPr>
          <a:xfrm>
            <a:off x="10195560" y="4142232"/>
            <a:ext cx="868680" cy="384048"/>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100" b="1" i="0">
                <a:solidFill>
                  <a:srgbClr val="FFFFFF"/>
                </a:solidFill>
                <a:latin typeface="Calibri"/>
              </a:rPr>
              <a:t>p=0.82</a:t>
            </a:r>
          </a:p>
        </p:txBody>
      </p:sp>
      <p:sp>
        <p:nvSpPr>
          <p:cNvPr id="28" name="Rounded Rectangle 27"/>
          <p:cNvSpPr/>
          <p:nvPr/>
        </p:nvSpPr>
        <p:spPr>
          <a:xfrm>
            <a:off x="640080" y="4782312"/>
            <a:ext cx="10908792" cy="658368"/>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0080" y="4782312"/>
            <a:ext cx="91440" cy="65836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6112" y="4846320"/>
            <a:ext cx="4114800" cy="301752"/>
          </a:xfrm>
          <a:prstGeom prst="rect">
            <a:avLst/>
          </a:prstGeom>
          <a:noFill/>
        </p:spPr>
        <p:txBody>
          <a:bodyPr wrap="square" lIns="54864" tIns="38100" rIns="54864" bIns="38100" anchor="t">
            <a:spAutoFit/>
          </a:bodyPr>
          <a:lstStyle/>
          <a:p>
            <a:pPr algn="l">
              <a:spcAft>
                <a:spcPts val="400"/>
              </a:spcAft>
            </a:pPr>
            <a:r>
              <a:rPr sz="1300" b="1" i="0">
                <a:solidFill>
                  <a:srgbClr val="0E1B2E"/>
                </a:solidFill>
                <a:latin typeface="Calibri"/>
              </a:rPr>
              <a:t>Hyperlipidemia NEC/NOS</a:t>
            </a:r>
          </a:p>
        </p:txBody>
      </p:sp>
      <p:sp>
        <p:nvSpPr>
          <p:cNvPr id="31" name="TextBox 30"/>
          <p:cNvSpPr txBox="1"/>
          <p:nvPr/>
        </p:nvSpPr>
        <p:spPr>
          <a:xfrm>
            <a:off x="896112" y="5148072"/>
            <a:ext cx="4114800" cy="237744"/>
          </a:xfrm>
          <a:prstGeom prst="rect">
            <a:avLst/>
          </a:prstGeom>
          <a:noFill/>
        </p:spPr>
        <p:txBody>
          <a:bodyPr wrap="square" lIns="54864" tIns="38100" rIns="54864" bIns="38100" anchor="t">
            <a:spAutoFit/>
          </a:bodyPr>
          <a:lstStyle/>
          <a:p>
            <a:pPr algn="l">
              <a:spcAft>
                <a:spcPts val="400"/>
              </a:spcAft>
            </a:pPr>
            <a:r>
              <a:rPr sz="1000" b="0" i="0">
                <a:solidFill>
                  <a:srgbClr val="6B7688"/>
                </a:solidFill>
                <a:latin typeface="Consolas"/>
              </a:rPr>
              <a:t>ICD-9 2724</a:t>
            </a:r>
          </a:p>
        </p:txBody>
      </p:sp>
      <p:sp>
        <p:nvSpPr>
          <p:cNvPr id="32" name="TextBox 31"/>
          <p:cNvSpPr txBox="1"/>
          <p:nvPr/>
        </p:nvSpPr>
        <p:spPr>
          <a:xfrm>
            <a:off x="5029200" y="4809744"/>
            <a:ext cx="4983480" cy="402336"/>
          </a:xfrm>
          <a:prstGeom prst="rect">
            <a:avLst/>
          </a:prstGeom>
          <a:noFill/>
        </p:spPr>
        <p:txBody>
          <a:bodyPr wrap="square" lIns="54864" rIns="54864" anchor="ctr">
            <a:spAutoFit/>
          </a:bodyPr>
          <a:lstStyle/>
          <a:p>
            <a:pPr algn="l">
              <a:spcAft>
                <a:spcPts val="600"/>
              </a:spcAft>
            </a:pPr>
            <a:r>
              <a:rPr sz="1150" b="0" i="0">
                <a:solidFill>
                  <a:srgbClr val="6B7688"/>
                </a:solidFill>
                <a:latin typeface="Calibri"/>
              </a:rPr>
              <a:t>“… </a:t>
            </a:r>
            <a:r>
              <a:rPr sz="1150" b="1" i="0">
                <a:solidFill>
                  <a:srgbClr val="1F7A8C"/>
                </a:solidFill>
                <a:latin typeface="Consolas"/>
              </a:rPr>
              <a:t>hyperlipidemia recorded in the problem list</a:t>
            </a:r>
            <a:r>
              <a:rPr sz="1150" b="0" i="0">
                <a:solidFill>
                  <a:srgbClr val="6B7688"/>
                </a:solidFill>
                <a:latin typeface="Calibri"/>
              </a:rPr>
              <a:t> …”</a:t>
            </a:r>
          </a:p>
        </p:txBody>
      </p:sp>
      <p:sp>
        <p:nvSpPr>
          <p:cNvPr id="33" name="TextBox 32"/>
          <p:cNvSpPr txBox="1"/>
          <p:nvPr/>
        </p:nvSpPr>
        <p:spPr>
          <a:xfrm>
            <a:off x="5047488" y="5202936"/>
            <a:ext cx="4983480" cy="219456"/>
          </a:xfrm>
          <a:prstGeom prst="rect">
            <a:avLst/>
          </a:prstGeom>
          <a:noFill/>
        </p:spPr>
        <p:txBody>
          <a:bodyPr wrap="square" lIns="54864" tIns="38100" rIns="54864" bIns="38100" anchor="t">
            <a:spAutoFit/>
          </a:bodyPr>
          <a:lstStyle/>
          <a:p>
            <a:pPr algn="l">
              <a:spcAft>
                <a:spcPts val="400"/>
              </a:spcAft>
            </a:pPr>
            <a:r>
              <a:rPr sz="900" b="1" i="0">
                <a:solidFill>
                  <a:srgbClr val="1F7A8C"/>
                </a:solidFill>
                <a:latin typeface="Calibri"/>
              </a:rPr>
              <a:t>correct</a:t>
            </a:r>
          </a:p>
        </p:txBody>
      </p:sp>
      <p:sp>
        <p:nvSpPr>
          <p:cNvPr id="34" name="Rounded Rectangle 33"/>
          <p:cNvSpPr/>
          <p:nvPr/>
        </p:nvSpPr>
        <p:spPr>
          <a:xfrm>
            <a:off x="10195560" y="4919472"/>
            <a:ext cx="868680" cy="384048"/>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100" b="1" i="0">
                <a:solidFill>
                  <a:srgbClr val="FFFFFF"/>
                </a:solidFill>
                <a:latin typeface="Calibri"/>
              </a:rPr>
              <a:t>p=0.81</a:t>
            </a:r>
          </a:p>
        </p:txBody>
      </p:sp>
      <p:sp>
        <p:nvSpPr>
          <p:cNvPr id="35" name="Rounded Rectangle 34"/>
          <p:cNvSpPr/>
          <p:nvPr/>
        </p:nvSpPr>
        <p:spPr>
          <a:xfrm>
            <a:off x="640080" y="5559551"/>
            <a:ext cx="10908792" cy="658368"/>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40080" y="5559551"/>
            <a:ext cx="91440" cy="658368"/>
          </a:xfrm>
          <a:prstGeom prst="rect">
            <a:avLst/>
          </a:prstGeom>
          <a:solidFill>
            <a:srgbClr val="D55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96112" y="5623559"/>
            <a:ext cx="4114800" cy="301752"/>
          </a:xfrm>
          <a:prstGeom prst="rect">
            <a:avLst/>
          </a:prstGeom>
          <a:noFill/>
        </p:spPr>
        <p:txBody>
          <a:bodyPr wrap="square" lIns="54864" tIns="38100" rIns="54864" bIns="38100" anchor="t">
            <a:spAutoFit/>
          </a:bodyPr>
          <a:lstStyle/>
          <a:p>
            <a:pPr algn="l">
              <a:spcAft>
                <a:spcPts val="400"/>
              </a:spcAft>
            </a:pPr>
            <a:r>
              <a:rPr sz="1300" b="1" i="0">
                <a:solidFill>
                  <a:srgbClr val="0E1B2E"/>
                </a:solidFill>
                <a:latin typeface="Calibri"/>
              </a:rPr>
              <a:t>Severe sepsis</a:t>
            </a:r>
          </a:p>
        </p:txBody>
      </p:sp>
      <p:sp>
        <p:nvSpPr>
          <p:cNvPr id="38" name="TextBox 37"/>
          <p:cNvSpPr txBox="1"/>
          <p:nvPr/>
        </p:nvSpPr>
        <p:spPr>
          <a:xfrm>
            <a:off x="896112" y="5925312"/>
            <a:ext cx="4114800" cy="237744"/>
          </a:xfrm>
          <a:prstGeom prst="rect">
            <a:avLst/>
          </a:prstGeom>
          <a:noFill/>
        </p:spPr>
        <p:txBody>
          <a:bodyPr wrap="square" lIns="54864" tIns="38100" rIns="54864" bIns="38100" anchor="t">
            <a:spAutoFit/>
          </a:bodyPr>
          <a:lstStyle/>
          <a:p>
            <a:pPr algn="l">
              <a:spcAft>
                <a:spcPts val="400"/>
              </a:spcAft>
            </a:pPr>
            <a:r>
              <a:rPr sz="1000" b="0" i="0">
                <a:solidFill>
                  <a:srgbClr val="6B7688"/>
                </a:solidFill>
                <a:latin typeface="Consolas"/>
              </a:rPr>
              <a:t>ICD-9 99592</a:t>
            </a:r>
          </a:p>
        </p:txBody>
      </p:sp>
      <p:sp>
        <p:nvSpPr>
          <p:cNvPr id="39" name="TextBox 38"/>
          <p:cNvSpPr txBox="1"/>
          <p:nvPr/>
        </p:nvSpPr>
        <p:spPr>
          <a:xfrm>
            <a:off x="5029200" y="5586983"/>
            <a:ext cx="4983480" cy="402336"/>
          </a:xfrm>
          <a:prstGeom prst="rect">
            <a:avLst/>
          </a:prstGeom>
          <a:noFill/>
        </p:spPr>
        <p:txBody>
          <a:bodyPr wrap="square" lIns="54864" rIns="54864" anchor="ctr">
            <a:spAutoFit/>
          </a:bodyPr>
          <a:lstStyle/>
          <a:p>
            <a:pPr algn="l">
              <a:spcAft>
                <a:spcPts val="600"/>
              </a:spcAft>
            </a:pPr>
            <a:r>
              <a:rPr sz="1150" b="0" i="0">
                <a:solidFill>
                  <a:srgbClr val="6B7688"/>
                </a:solidFill>
                <a:latin typeface="Calibri"/>
              </a:rPr>
              <a:t>“… </a:t>
            </a:r>
            <a:r>
              <a:rPr sz="1150" b="1" i="0">
                <a:solidFill>
                  <a:srgbClr val="D5573B"/>
                </a:solidFill>
                <a:latin typeface="Consolas"/>
              </a:rPr>
              <a:t>started on empiric antibiotics for a suspected infection</a:t>
            </a:r>
            <a:r>
              <a:rPr sz="1150" b="0" i="0">
                <a:solidFill>
                  <a:srgbClr val="6B7688"/>
                </a:solidFill>
                <a:latin typeface="Calibri"/>
              </a:rPr>
              <a:t> …”</a:t>
            </a:r>
          </a:p>
        </p:txBody>
      </p:sp>
      <p:sp>
        <p:nvSpPr>
          <p:cNvPr id="40" name="TextBox 39"/>
          <p:cNvSpPr txBox="1"/>
          <p:nvPr/>
        </p:nvSpPr>
        <p:spPr>
          <a:xfrm>
            <a:off x="5047488" y="5980175"/>
            <a:ext cx="4983480" cy="219456"/>
          </a:xfrm>
          <a:prstGeom prst="rect">
            <a:avLst/>
          </a:prstGeom>
          <a:noFill/>
        </p:spPr>
        <p:txBody>
          <a:bodyPr wrap="square" lIns="54864" tIns="38100" rIns="54864" bIns="38100" anchor="t">
            <a:spAutoFit/>
          </a:bodyPr>
          <a:lstStyle/>
          <a:p>
            <a:pPr algn="l">
              <a:spcAft>
                <a:spcPts val="400"/>
              </a:spcAft>
            </a:pPr>
            <a:r>
              <a:rPr sz="900" b="1" i="0">
                <a:solidFill>
                  <a:srgbClr val="D5573B"/>
                </a:solidFill>
                <a:latin typeface="Calibri"/>
              </a:rPr>
              <a:t>a plausible miss: you can see why it was fooled</a:t>
            </a:r>
          </a:p>
        </p:txBody>
      </p:sp>
      <p:sp>
        <p:nvSpPr>
          <p:cNvPr id="41" name="Rounded Rectangle 40"/>
          <p:cNvSpPr/>
          <p:nvPr/>
        </p:nvSpPr>
        <p:spPr>
          <a:xfrm>
            <a:off x="10195560" y="5696712"/>
            <a:ext cx="868680" cy="384048"/>
          </a:xfrm>
          <a:prstGeom prst="roundRect">
            <a:avLst>
              <a:gd name="adj" fmla="val 50000"/>
            </a:avLst>
          </a:prstGeom>
          <a:solidFill>
            <a:srgbClr val="D5573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100" b="1" i="0">
                <a:solidFill>
                  <a:srgbClr val="FFFFFF"/>
                </a:solidFill>
                <a:latin typeface="Calibri"/>
              </a:rPr>
              <a:t>p=0.63</a:t>
            </a:r>
          </a:p>
        </p:txBody>
      </p:sp>
      <p:sp>
        <p:nvSpPr>
          <p:cNvPr id="42" name="Rectangle 41"/>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44" name="TextBox 43"/>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09 / 11</a:t>
            </a:r>
          </a:p>
        </p:txBody>
      </p:sp>
      <p:sp>
        <p:nvSpPr>
          <p:cNvPr id="46" name="Rectangle 45">
            <a:extLst>
              <a:ext uri="{FF2B5EF4-FFF2-40B4-BE49-F238E27FC236}">
                <a16:creationId xmlns:a16="http://schemas.microsoft.com/office/drawing/2014/main" id="{7E034B00-F9A4-68AB-77D2-3A980523AA17}"/>
              </a:ext>
            </a:extLst>
          </p:cNvPr>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88670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10  ·  THE HONEST READ</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lgn="l">
              <a:spcAft>
                <a:spcPts val="400"/>
              </a:spcAft>
            </a:pPr>
            <a:r>
              <a:rPr sz="2800" b="0" i="0" dirty="0">
                <a:solidFill>
                  <a:srgbClr val="0E1B2E"/>
                </a:solidFill>
                <a:latin typeface="Cambria" panose="02040503050406030204" pitchFamily="18" charset="0"/>
                <a:ea typeface="Cambria" panose="02040503050406030204" pitchFamily="18" charset="0"/>
              </a:rPr>
              <a:t>What this does not show</a:t>
            </a: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920240"/>
            <a:ext cx="10908792" cy="758952"/>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920240"/>
            <a:ext cx="91440" cy="758952"/>
          </a:xfrm>
          <a:prstGeom prst="rect">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93976"/>
            <a:ext cx="2377440" cy="411480"/>
          </a:xfrm>
          <a:prstGeom prst="rect">
            <a:avLst/>
          </a:prstGeom>
          <a:noFill/>
        </p:spPr>
        <p:txBody>
          <a:bodyPr wrap="square" lIns="54864" tIns="38100" rIns="54864" bIns="38100" anchor="ctr">
            <a:spAutoFit/>
          </a:bodyPr>
          <a:lstStyle/>
          <a:p>
            <a:pPr algn="l">
              <a:spcAft>
                <a:spcPts val="400"/>
              </a:spcAft>
            </a:pPr>
            <a:r>
              <a:rPr sz="1400" b="1" i="0">
                <a:solidFill>
                  <a:srgbClr val="0E1B2E"/>
                </a:solidFill>
                <a:latin typeface="Calibri Light"/>
              </a:rPr>
              <a:t>Scope</a:t>
            </a:r>
          </a:p>
        </p:txBody>
      </p:sp>
      <p:sp>
        <p:nvSpPr>
          <p:cNvPr id="9" name="TextBox 8"/>
          <p:cNvSpPr txBox="1"/>
          <p:nvPr/>
        </p:nvSpPr>
        <p:spPr>
          <a:xfrm>
            <a:off x="3200400" y="2029968"/>
            <a:ext cx="8229600" cy="566928"/>
          </a:xfrm>
          <a:prstGeom prst="rect">
            <a:avLst/>
          </a:prstGeom>
          <a:noFill/>
        </p:spPr>
        <p:txBody>
          <a:bodyPr wrap="square" lIns="54864" tIns="38100" rIns="54864" bIns="38100" anchor="ctr">
            <a:spAutoFit/>
          </a:bodyPr>
          <a:lstStyle/>
          <a:p>
            <a:pPr algn="l">
              <a:spcAft>
                <a:spcPts val="400"/>
              </a:spcAft>
            </a:pPr>
            <a:r>
              <a:rPr sz="1250" b="0" i="0">
                <a:solidFill>
                  <a:srgbClr val="384457"/>
                </a:solidFill>
                <a:latin typeface="Calibri"/>
              </a:rPr>
              <a:t>the 50 most frequent codes on a benchmark-sized sample; real coding spans thousands, including rare ones</a:t>
            </a:r>
          </a:p>
        </p:txBody>
      </p:sp>
      <p:sp>
        <p:nvSpPr>
          <p:cNvPr id="10" name="Rounded Rectangle 9"/>
          <p:cNvSpPr/>
          <p:nvPr/>
        </p:nvSpPr>
        <p:spPr>
          <a:xfrm>
            <a:off x="640080" y="2743200"/>
            <a:ext cx="10908792" cy="758952"/>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2743200"/>
            <a:ext cx="91440" cy="758952"/>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916936"/>
            <a:ext cx="2377440" cy="411480"/>
          </a:xfrm>
          <a:prstGeom prst="rect">
            <a:avLst/>
          </a:prstGeom>
          <a:noFill/>
        </p:spPr>
        <p:txBody>
          <a:bodyPr wrap="square" lIns="54864" tIns="38100" rIns="54864" bIns="38100" anchor="ctr">
            <a:spAutoFit/>
          </a:bodyPr>
          <a:lstStyle/>
          <a:p>
            <a:pPr algn="l">
              <a:spcAft>
                <a:spcPts val="400"/>
              </a:spcAft>
            </a:pPr>
            <a:r>
              <a:rPr sz="1400" b="1" i="0">
                <a:solidFill>
                  <a:srgbClr val="0E1B2E"/>
                </a:solidFill>
                <a:latin typeface="Calibri Light"/>
              </a:rPr>
              <a:t>Truncation</a:t>
            </a:r>
          </a:p>
        </p:txBody>
      </p:sp>
      <p:sp>
        <p:nvSpPr>
          <p:cNvPr id="13" name="TextBox 12"/>
          <p:cNvSpPr txBox="1"/>
          <p:nvPr/>
        </p:nvSpPr>
        <p:spPr>
          <a:xfrm>
            <a:off x="3200400" y="2852928"/>
            <a:ext cx="8229600" cy="566928"/>
          </a:xfrm>
          <a:prstGeom prst="rect">
            <a:avLst/>
          </a:prstGeom>
          <a:noFill/>
        </p:spPr>
        <p:txBody>
          <a:bodyPr wrap="square" lIns="54864" tIns="38100" rIns="54864" bIns="38100" anchor="ctr">
            <a:spAutoFit/>
          </a:bodyPr>
          <a:lstStyle/>
          <a:p>
            <a:pPr algn="l">
              <a:spcAft>
                <a:spcPts val="400"/>
              </a:spcAft>
            </a:pPr>
            <a:r>
              <a:rPr sz="1250" b="0" i="0">
                <a:solidFill>
                  <a:srgbClr val="384457"/>
                </a:solidFill>
                <a:latin typeface="Calibri"/>
              </a:rPr>
              <a:t>the CNN reads the first 1,500 words, so signal in very long notes’ tails can be missed</a:t>
            </a:r>
          </a:p>
        </p:txBody>
      </p:sp>
      <p:sp>
        <p:nvSpPr>
          <p:cNvPr id="14" name="Rounded Rectangle 13"/>
          <p:cNvSpPr/>
          <p:nvPr/>
        </p:nvSpPr>
        <p:spPr>
          <a:xfrm>
            <a:off x="640080" y="3566160"/>
            <a:ext cx="10908792" cy="758952"/>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566160"/>
            <a:ext cx="91440" cy="758952"/>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739896"/>
            <a:ext cx="2377440" cy="411480"/>
          </a:xfrm>
          <a:prstGeom prst="rect">
            <a:avLst/>
          </a:prstGeom>
          <a:noFill/>
        </p:spPr>
        <p:txBody>
          <a:bodyPr wrap="square" lIns="54864" tIns="38100" rIns="54864" bIns="38100" anchor="ctr">
            <a:spAutoFit/>
          </a:bodyPr>
          <a:lstStyle/>
          <a:p>
            <a:pPr algn="l">
              <a:spcAft>
                <a:spcPts val="400"/>
              </a:spcAft>
            </a:pPr>
            <a:r>
              <a:rPr sz="1400" b="1" i="0">
                <a:solidFill>
                  <a:srgbClr val="0E1B2E"/>
                </a:solidFill>
                <a:latin typeface="Calibri Light"/>
              </a:rPr>
              <a:t>Label quality</a:t>
            </a:r>
          </a:p>
        </p:txBody>
      </p:sp>
      <p:sp>
        <p:nvSpPr>
          <p:cNvPr id="17" name="TextBox 16"/>
          <p:cNvSpPr txBox="1"/>
          <p:nvPr/>
        </p:nvSpPr>
        <p:spPr>
          <a:xfrm>
            <a:off x="3200400" y="3675887"/>
            <a:ext cx="8229600" cy="566928"/>
          </a:xfrm>
          <a:prstGeom prst="rect">
            <a:avLst/>
          </a:prstGeom>
          <a:noFill/>
        </p:spPr>
        <p:txBody>
          <a:bodyPr wrap="square" lIns="54864" tIns="38100" rIns="54864" bIns="38100" anchor="ctr">
            <a:spAutoFit/>
          </a:bodyPr>
          <a:lstStyle/>
          <a:p>
            <a:pPr algn="l">
              <a:spcAft>
                <a:spcPts val="400"/>
              </a:spcAft>
            </a:pPr>
            <a:r>
              <a:rPr sz="1250" b="0" i="0">
                <a:solidFill>
                  <a:srgbClr val="384457"/>
                </a:solidFill>
                <a:latin typeface="Calibri"/>
              </a:rPr>
              <a:t>ICD codes are human-entered billing labels, not verified ground truth; coders disagree</a:t>
            </a:r>
          </a:p>
        </p:txBody>
      </p:sp>
      <p:sp>
        <p:nvSpPr>
          <p:cNvPr id="18" name="Rounded Rectangle 17"/>
          <p:cNvSpPr/>
          <p:nvPr/>
        </p:nvSpPr>
        <p:spPr>
          <a:xfrm>
            <a:off x="640080" y="4389120"/>
            <a:ext cx="10908792" cy="758952"/>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4389120"/>
            <a:ext cx="91440" cy="758952"/>
          </a:xfrm>
          <a:prstGeom prst="rect">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562856"/>
            <a:ext cx="2377440" cy="411480"/>
          </a:xfrm>
          <a:prstGeom prst="rect">
            <a:avLst/>
          </a:prstGeom>
          <a:noFill/>
        </p:spPr>
        <p:txBody>
          <a:bodyPr wrap="square" lIns="54864" tIns="38100" rIns="54864" bIns="38100" anchor="ctr">
            <a:spAutoFit/>
          </a:bodyPr>
          <a:lstStyle/>
          <a:p>
            <a:pPr algn="l">
              <a:spcAft>
                <a:spcPts val="400"/>
              </a:spcAft>
            </a:pPr>
            <a:r>
              <a:rPr sz="1400" b="1" i="0">
                <a:solidFill>
                  <a:srgbClr val="0E1B2E"/>
                </a:solidFill>
                <a:latin typeface="Calibri Light"/>
              </a:rPr>
              <a:t>Intended use</a:t>
            </a:r>
          </a:p>
        </p:txBody>
      </p:sp>
      <p:sp>
        <p:nvSpPr>
          <p:cNvPr id="21" name="TextBox 20"/>
          <p:cNvSpPr txBox="1"/>
          <p:nvPr/>
        </p:nvSpPr>
        <p:spPr>
          <a:xfrm>
            <a:off x="3200400" y="4498848"/>
            <a:ext cx="8229600" cy="566928"/>
          </a:xfrm>
          <a:prstGeom prst="rect">
            <a:avLst/>
          </a:prstGeom>
          <a:noFill/>
        </p:spPr>
        <p:txBody>
          <a:bodyPr wrap="square" lIns="54864" tIns="38100" rIns="54864" bIns="38100" anchor="ctr">
            <a:spAutoFit/>
          </a:bodyPr>
          <a:lstStyle/>
          <a:p>
            <a:pPr algn="l">
              <a:spcAft>
                <a:spcPts val="400"/>
              </a:spcAft>
            </a:pPr>
            <a:r>
              <a:rPr sz="1250" b="0" i="0">
                <a:solidFill>
                  <a:srgbClr val="384457"/>
                </a:solidFill>
                <a:latin typeface="Calibri"/>
              </a:rPr>
              <a:t>a first-pass suggester for a human to confirm, not an autonomous coder or clinical device</a:t>
            </a:r>
          </a:p>
        </p:txBody>
      </p:sp>
      <p:sp>
        <p:nvSpPr>
          <p:cNvPr id="22" name="Rounded Rectangle 21"/>
          <p:cNvSpPr/>
          <p:nvPr/>
        </p:nvSpPr>
        <p:spPr>
          <a:xfrm>
            <a:off x="640080" y="5212080"/>
            <a:ext cx="10908792" cy="758952"/>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5212080"/>
            <a:ext cx="91440" cy="758952"/>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5385816"/>
            <a:ext cx="2377440" cy="411480"/>
          </a:xfrm>
          <a:prstGeom prst="rect">
            <a:avLst/>
          </a:prstGeom>
          <a:noFill/>
        </p:spPr>
        <p:txBody>
          <a:bodyPr wrap="square" lIns="54864" tIns="38100" rIns="54864" bIns="38100" anchor="ctr">
            <a:spAutoFit/>
          </a:bodyPr>
          <a:lstStyle/>
          <a:p>
            <a:pPr algn="l">
              <a:spcAft>
                <a:spcPts val="400"/>
              </a:spcAft>
            </a:pPr>
            <a:r>
              <a:rPr sz="1400" b="1" i="0">
                <a:solidFill>
                  <a:srgbClr val="0E1B2E"/>
                </a:solidFill>
                <a:latin typeface="Calibri Light"/>
              </a:rPr>
              <a:t>Generalization</a:t>
            </a:r>
          </a:p>
        </p:txBody>
      </p:sp>
      <p:sp>
        <p:nvSpPr>
          <p:cNvPr id="25" name="TextBox 24"/>
          <p:cNvSpPr txBox="1"/>
          <p:nvPr/>
        </p:nvSpPr>
        <p:spPr>
          <a:xfrm>
            <a:off x="3200400" y="5321808"/>
            <a:ext cx="8229600" cy="566928"/>
          </a:xfrm>
          <a:prstGeom prst="rect">
            <a:avLst/>
          </a:prstGeom>
          <a:noFill/>
        </p:spPr>
        <p:txBody>
          <a:bodyPr wrap="square" lIns="54864" tIns="38100" rIns="54864" bIns="38100" anchor="ctr">
            <a:spAutoFit/>
          </a:bodyPr>
          <a:lstStyle/>
          <a:p>
            <a:pPr algn="l">
              <a:spcAft>
                <a:spcPts val="400"/>
              </a:spcAft>
            </a:pPr>
            <a:r>
              <a:rPr sz="1250" b="0" i="0">
                <a:solidFill>
                  <a:srgbClr val="384457"/>
                </a:solidFill>
                <a:latin typeface="Calibri"/>
              </a:rPr>
              <a:t>trained on MIMIC-III ICU notes only; another hospital or ward would need revalidation</a:t>
            </a:r>
          </a:p>
        </p:txBody>
      </p:sp>
      <p:sp>
        <p:nvSpPr>
          <p:cNvPr id="26" name="Rectangle 25"/>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28" name="TextBox 27"/>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10 / 11</a:t>
            </a:r>
          </a:p>
        </p:txBody>
      </p:sp>
    </p:spTree>
    <p:extLst>
      <p:ext uri="{BB962C8B-B14F-4D97-AF65-F5344CB8AC3E}">
        <p14:creationId xmlns:p14="http://schemas.microsoft.com/office/powerpoint/2010/main" val="359484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02336"/>
            <a:ext cx="10881360" cy="292608"/>
          </a:xfrm>
          <a:prstGeom prst="rect">
            <a:avLst/>
          </a:prstGeom>
          <a:noFill/>
        </p:spPr>
        <p:txBody>
          <a:bodyPr wrap="square" lIns="54864" tIns="38100" rIns="54864" bIns="38100" anchor="t">
            <a:spAutoFit/>
          </a:bodyPr>
          <a:lstStyle/>
          <a:p>
            <a:pPr algn="l">
              <a:spcAft>
                <a:spcPts val="400"/>
              </a:spcAft>
            </a:pPr>
            <a:r>
              <a:rPr sz="1250" b="1" i="0">
                <a:solidFill>
                  <a:srgbClr val="1F7A8C"/>
                </a:solidFill>
                <a:latin typeface="Calibri"/>
              </a:rPr>
              <a:t>11  ·  REBUILD IT</a:t>
            </a:r>
          </a:p>
        </p:txBody>
      </p:sp>
      <p:sp>
        <p:nvSpPr>
          <p:cNvPr id="4" name="TextBox 3"/>
          <p:cNvSpPr txBox="1"/>
          <p:nvPr/>
        </p:nvSpPr>
        <p:spPr>
          <a:xfrm>
            <a:off x="612648" y="676656"/>
            <a:ext cx="10927080" cy="507831"/>
          </a:xfrm>
          <a:prstGeom prst="rect">
            <a:avLst/>
          </a:prstGeom>
          <a:noFill/>
        </p:spPr>
        <p:txBody>
          <a:bodyPr wrap="square" lIns="54864" tIns="38100" rIns="54864" bIns="38100" anchor="t">
            <a:spAutoFit/>
          </a:bodyPr>
          <a:lstStyle/>
          <a:p>
            <a:pPr>
              <a:spcAft>
                <a:spcPts val="400"/>
              </a:spcAft>
            </a:pPr>
            <a:r>
              <a:rPr sz="2800" b="0" i="0" dirty="0">
                <a:solidFill>
                  <a:srgbClr val="0E1B2E"/>
                </a:solidFill>
                <a:latin typeface="Cambria" panose="02040503050406030204" pitchFamily="18" charset="0"/>
                <a:ea typeface="Cambria" panose="02040503050406030204" pitchFamily="18" charset="0"/>
              </a:rPr>
              <a:t>Reproducible on </a:t>
            </a:r>
            <a:r>
              <a:rPr lang="en-US" sz="2800" b="0" i="0" dirty="0">
                <a:solidFill>
                  <a:srgbClr val="0E1B2E"/>
                </a:solidFill>
                <a:latin typeface="Cambria" panose="02040503050406030204" pitchFamily="18" charset="0"/>
                <a:ea typeface="Cambria" panose="02040503050406030204" pitchFamily="18" charset="0"/>
              </a:rPr>
              <a:t>y</a:t>
            </a:r>
            <a:r>
              <a:rPr lang="en-US" sz="2800" dirty="0">
                <a:solidFill>
                  <a:srgbClr val="0E1B2E"/>
                </a:solidFill>
                <a:latin typeface="Cambria" panose="02040503050406030204" pitchFamily="18" charset="0"/>
                <a:ea typeface="Cambria" panose="02040503050406030204" pitchFamily="18" charset="0"/>
              </a:rPr>
              <a:t>our own </a:t>
            </a:r>
            <a:endParaRPr sz="2800" b="0" i="0" dirty="0">
              <a:solidFill>
                <a:srgbClr val="0E1B2E"/>
              </a:solidFill>
              <a:latin typeface="Cambria" panose="02040503050406030204" pitchFamily="18" charset="0"/>
              <a:ea typeface="Cambria" panose="02040503050406030204" pitchFamily="18" charset="0"/>
            </a:endParaRPr>
          </a:p>
        </p:txBody>
      </p:sp>
      <p:sp>
        <p:nvSpPr>
          <p:cNvPr id="5" name="Rectangle 4"/>
          <p:cNvSpPr/>
          <p:nvPr/>
        </p:nvSpPr>
        <p:spPr>
          <a:xfrm>
            <a:off x="640080" y="1463040"/>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998980" y="1965960"/>
            <a:ext cx="2606040" cy="2468880"/>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82442" y="2203704"/>
            <a:ext cx="566928" cy="566928"/>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2444" y="2258568"/>
            <a:ext cx="566928" cy="457200"/>
          </a:xfrm>
          <a:prstGeom prst="rect">
            <a:avLst/>
          </a:prstGeom>
          <a:noFill/>
        </p:spPr>
        <p:txBody>
          <a:bodyPr wrap="square" lIns="54864" tIns="38100" rIns="54864" bIns="38100" anchor="ctr">
            <a:spAutoFit/>
          </a:bodyPr>
          <a:lstStyle/>
          <a:p>
            <a:pPr algn="ctr">
              <a:spcAft>
                <a:spcPts val="400"/>
              </a:spcAft>
            </a:pPr>
            <a:r>
              <a:rPr sz="2000" b="1" i="0">
                <a:solidFill>
                  <a:srgbClr val="FFFFFF"/>
                </a:solidFill>
                <a:latin typeface="Calibri Light"/>
              </a:rPr>
              <a:t>1</a:t>
            </a:r>
          </a:p>
        </p:txBody>
      </p:sp>
      <p:sp>
        <p:nvSpPr>
          <p:cNvPr id="9" name="TextBox 8"/>
          <p:cNvSpPr txBox="1"/>
          <p:nvPr/>
        </p:nvSpPr>
        <p:spPr>
          <a:xfrm>
            <a:off x="2181859" y="2926080"/>
            <a:ext cx="2286000" cy="300082"/>
          </a:xfrm>
          <a:prstGeom prst="rect">
            <a:avLst/>
          </a:prstGeom>
          <a:noFill/>
        </p:spPr>
        <p:txBody>
          <a:bodyPr wrap="square" lIns="54864" tIns="38100" rIns="54864" bIns="38100" anchor="t">
            <a:spAutoFit/>
          </a:bodyPr>
          <a:lstStyle/>
          <a:p>
            <a:pPr algn="l">
              <a:spcAft>
                <a:spcPts val="400"/>
              </a:spcAft>
            </a:pPr>
            <a:r>
              <a:rPr sz="1450" b="1" i="0" dirty="0">
                <a:solidFill>
                  <a:srgbClr val="0E1B2E"/>
                </a:solidFill>
                <a:latin typeface="Cambria" panose="02040503050406030204" pitchFamily="18" charset="0"/>
                <a:ea typeface="Cambria" panose="02040503050406030204" pitchFamily="18" charset="0"/>
              </a:rPr>
              <a:t>Get MIMIC-III</a:t>
            </a:r>
          </a:p>
        </p:txBody>
      </p:sp>
      <p:sp>
        <p:nvSpPr>
          <p:cNvPr id="10" name="TextBox 9"/>
          <p:cNvSpPr txBox="1"/>
          <p:nvPr/>
        </p:nvSpPr>
        <p:spPr>
          <a:xfrm>
            <a:off x="2181859" y="3383280"/>
            <a:ext cx="2286000" cy="253916"/>
          </a:xfrm>
          <a:prstGeom prst="rect">
            <a:avLst/>
          </a:prstGeom>
          <a:noFill/>
        </p:spPr>
        <p:txBody>
          <a:bodyPr wrap="square" lIns="54864" tIns="38100" rIns="54864" bIns="38100" anchor="t">
            <a:spAutoFit/>
          </a:bodyPr>
          <a:lstStyle/>
          <a:p>
            <a:pPr algn="l">
              <a:spcAft>
                <a:spcPts val="400"/>
              </a:spcAft>
            </a:pPr>
            <a:r>
              <a:rPr sz="1150" b="0" i="0" dirty="0">
                <a:solidFill>
                  <a:srgbClr val="384457"/>
                </a:solidFill>
                <a:latin typeface="Calibri"/>
              </a:rPr>
              <a:t>credentialed on PhysioNet</a:t>
            </a:r>
          </a:p>
        </p:txBody>
      </p:sp>
      <p:sp>
        <p:nvSpPr>
          <p:cNvPr id="11" name="Rounded Rectangle 10"/>
          <p:cNvSpPr/>
          <p:nvPr/>
        </p:nvSpPr>
        <p:spPr>
          <a:xfrm>
            <a:off x="4723891" y="1965960"/>
            <a:ext cx="2606040" cy="2468880"/>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007356" y="2203704"/>
            <a:ext cx="566928" cy="566928"/>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07356" y="2258568"/>
            <a:ext cx="566928" cy="457200"/>
          </a:xfrm>
          <a:prstGeom prst="rect">
            <a:avLst/>
          </a:prstGeom>
          <a:noFill/>
        </p:spPr>
        <p:txBody>
          <a:bodyPr wrap="square" lIns="54864" tIns="38100" rIns="54864" bIns="38100" anchor="ctr">
            <a:spAutoFit/>
          </a:bodyPr>
          <a:lstStyle/>
          <a:p>
            <a:pPr algn="ctr">
              <a:spcAft>
                <a:spcPts val="400"/>
              </a:spcAft>
            </a:pPr>
            <a:r>
              <a:rPr sz="2000" b="1" i="0">
                <a:solidFill>
                  <a:srgbClr val="FFFFFF"/>
                </a:solidFill>
                <a:latin typeface="Calibri Light"/>
              </a:rPr>
              <a:t>2</a:t>
            </a:r>
          </a:p>
        </p:txBody>
      </p:sp>
      <p:sp>
        <p:nvSpPr>
          <p:cNvPr id="14" name="TextBox 13"/>
          <p:cNvSpPr txBox="1"/>
          <p:nvPr/>
        </p:nvSpPr>
        <p:spPr>
          <a:xfrm>
            <a:off x="4906772" y="2926080"/>
            <a:ext cx="2286000" cy="300082"/>
          </a:xfrm>
          <a:prstGeom prst="rect">
            <a:avLst/>
          </a:prstGeom>
          <a:noFill/>
        </p:spPr>
        <p:txBody>
          <a:bodyPr wrap="square" lIns="54864" tIns="38100" rIns="54864" bIns="38100" anchor="t">
            <a:spAutoFit/>
          </a:bodyPr>
          <a:lstStyle/>
          <a:p>
            <a:pPr algn="l">
              <a:spcAft>
                <a:spcPts val="400"/>
              </a:spcAft>
            </a:pPr>
            <a:r>
              <a:rPr sz="1450" b="1" i="0" dirty="0">
                <a:solidFill>
                  <a:srgbClr val="0E1B2E"/>
                </a:solidFill>
                <a:latin typeface="Cambria" panose="02040503050406030204" pitchFamily="18" charset="0"/>
                <a:ea typeface="Cambria" panose="02040503050406030204" pitchFamily="18" charset="0"/>
              </a:rPr>
              <a:t>Install</a:t>
            </a:r>
          </a:p>
        </p:txBody>
      </p:sp>
      <p:sp>
        <p:nvSpPr>
          <p:cNvPr id="15" name="TextBox 14"/>
          <p:cNvSpPr txBox="1"/>
          <p:nvPr/>
        </p:nvSpPr>
        <p:spPr>
          <a:xfrm>
            <a:off x="4906772" y="3383280"/>
            <a:ext cx="2286000" cy="253916"/>
          </a:xfrm>
          <a:prstGeom prst="rect">
            <a:avLst/>
          </a:prstGeom>
          <a:noFill/>
        </p:spPr>
        <p:txBody>
          <a:bodyPr wrap="square" lIns="54864" tIns="38100" rIns="54864" bIns="38100" anchor="t">
            <a:spAutoFit/>
          </a:bodyPr>
          <a:lstStyle/>
          <a:p>
            <a:pPr algn="l">
              <a:spcAft>
                <a:spcPts val="400"/>
              </a:spcAft>
            </a:pPr>
            <a:r>
              <a:rPr sz="1150" b="0" i="0" dirty="0">
                <a:solidFill>
                  <a:srgbClr val="384457"/>
                </a:solidFill>
                <a:latin typeface="Calibri"/>
              </a:rPr>
              <a:t>install requirements</a:t>
            </a:r>
          </a:p>
        </p:txBody>
      </p:sp>
      <p:sp>
        <p:nvSpPr>
          <p:cNvPr id="16" name="Rounded Rectangle 15"/>
          <p:cNvSpPr/>
          <p:nvPr/>
        </p:nvSpPr>
        <p:spPr>
          <a:xfrm>
            <a:off x="7448804" y="1965960"/>
            <a:ext cx="2606040" cy="2468880"/>
          </a:xfrm>
          <a:prstGeom prst="roundRect">
            <a:avLst>
              <a:gd name="adj" fmla="val 5000"/>
            </a:avLst>
          </a:prstGeom>
          <a:solidFill>
            <a:srgbClr val="F6F8FB"/>
          </a:solidFill>
          <a:ln w="12700">
            <a:solidFill>
              <a:srgbClr val="D9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32267" y="2203704"/>
            <a:ext cx="566928" cy="566928"/>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32267" y="2258568"/>
            <a:ext cx="566928" cy="457200"/>
          </a:xfrm>
          <a:prstGeom prst="rect">
            <a:avLst/>
          </a:prstGeom>
          <a:noFill/>
        </p:spPr>
        <p:txBody>
          <a:bodyPr wrap="square" lIns="54864" tIns="38100" rIns="54864" bIns="38100" anchor="ctr">
            <a:spAutoFit/>
          </a:bodyPr>
          <a:lstStyle/>
          <a:p>
            <a:pPr algn="ctr">
              <a:spcAft>
                <a:spcPts val="400"/>
              </a:spcAft>
            </a:pPr>
            <a:r>
              <a:rPr sz="2000" b="1" i="0">
                <a:solidFill>
                  <a:srgbClr val="FFFFFF"/>
                </a:solidFill>
                <a:latin typeface="Calibri Light"/>
              </a:rPr>
              <a:t>3</a:t>
            </a:r>
          </a:p>
        </p:txBody>
      </p:sp>
      <p:sp>
        <p:nvSpPr>
          <p:cNvPr id="19" name="TextBox 18"/>
          <p:cNvSpPr txBox="1"/>
          <p:nvPr/>
        </p:nvSpPr>
        <p:spPr>
          <a:xfrm>
            <a:off x="7631684" y="2926080"/>
            <a:ext cx="2286000" cy="300082"/>
          </a:xfrm>
          <a:prstGeom prst="rect">
            <a:avLst/>
          </a:prstGeom>
          <a:noFill/>
        </p:spPr>
        <p:txBody>
          <a:bodyPr wrap="square" lIns="54864" tIns="38100" rIns="54864" bIns="38100" anchor="t">
            <a:spAutoFit/>
          </a:bodyPr>
          <a:lstStyle/>
          <a:p>
            <a:pPr algn="l">
              <a:spcAft>
                <a:spcPts val="400"/>
              </a:spcAft>
            </a:pPr>
            <a:r>
              <a:rPr sz="1450" b="1" i="0" dirty="0">
                <a:solidFill>
                  <a:srgbClr val="0E1B2E"/>
                </a:solidFill>
                <a:latin typeface="Cambria" panose="02040503050406030204" pitchFamily="18" charset="0"/>
                <a:ea typeface="Cambria" panose="02040503050406030204" pitchFamily="18" charset="0"/>
              </a:rPr>
              <a:t>Run the notebook</a:t>
            </a:r>
          </a:p>
        </p:txBody>
      </p:sp>
      <p:sp>
        <p:nvSpPr>
          <p:cNvPr id="20" name="TextBox 19"/>
          <p:cNvSpPr txBox="1"/>
          <p:nvPr/>
        </p:nvSpPr>
        <p:spPr>
          <a:xfrm>
            <a:off x="7631684" y="3383280"/>
            <a:ext cx="2286000" cy="1005840"/>
          </a:xfrm>
          <a:prstGeom prst="rect">
            <a:avLst/>
          </a:prstGeom>
          <a:noFill/>
        </p:spPr>
        <p:txBody>
          <a:bodyPr wrap="square" lIns="54864" tIns="38100" rIns="54864" bIns="38100" anchor="t">
            <a:spAutoFit/>
          </a:bodyPr>
          <a:lstStyle/>
          <a:p>
            <a:pPr algn="l">
              <a:spcAft>
                <a:spcPts val="400"/>
              </a:spcAft>
            </a:pPr>
            <a:r>
              <a:rPr sz="1150" b="0" i="0">
                <a:solidFill>
                  <a:srgbClr val="384457"/>
                </a:solidFill>
                <a:latin typeface="Calibri"/>
              </a:rPr>
              <a:t>builds the cohort, trains both models, saves every figure</a:t>
            </a:r>
          </a:p>
        </p:txBody>
      </p:sp>
      <p:sp>
        <p:nvSpPr>
          <p:cNvPr id="26" name="Rounded Rectangle 25"/>
          <p:cNvSpPr/>
          <p:nvPr/>
        </p:nvSpPr>
        <p:spPr>
          <a:xfrm>
            <a:off x="640080" y="4892040"/>
            <a:ext cx="10908792" cy="731520"/>
          </a:xfrm>
          <a:prstGeom prst="roundRect">
            <a:avLst>
              <a:gd name="adj" fmla="val 6000"/>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4892040"/>
            <a:ext cx="10908792" cy="731520"/>
          </a:xfrm>
          <a:prstGeom prst="rect">
            <a:avLst/>
          </a:prstGeom>
          <a:noFill/>
        </p:spPr>
        <p:txBody>
          <a:bodyPr wrap="square" lIns="54864" tIns="38100" rIns="54864" bIns="38100" anchor="ctr">
            <a:spAutoFit/>
          </a:bodyPr>
          <a:lstStyle/>
          <a:p>
            <a:pPr algn="ctr">
              <a:spcAft>
                <a:spcPts val="400"/>
              </a:spcAft>
            </a:pPr>
            <a:r>
              <a:rPr sz="1350" b="1" i="0">
                <a:solidFill>
                  <a:srgbClr val="FFFFFF"/>
                </a:solidFill>
                <a:latin typeface="Calibri"/>
              </a:rPr>
              <a:t>note  →  cohort  →  clean text  →  metrics  →  baseline  →  CNN + attention  →  results  →  explanation</a:t>
            </a:r>
          </a:p>
        </p:txBody>
      </p:sp>
      <p:sp>
        <p:nvSpPr>
          <p:cNvPr id="31" name="Rectangle 30"/>
          <p:cNvSpPr/>
          <p:nvPr/>
        </p:nvSpPr>
        <p:spPr>
          <a:xfrm>
            <a:off x="640080" y="6419088"/>
            <a:ext cx="10908792" cy="12700"/>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6473952"/>
            <a:ext cx="8229600" cy="274320"/>
          </a:xfrm>
          <a:prstGeom prst="rect">
            <a:avLst/>
          </a:prstGeom>
          <a:noFill/>
        </p:spPr>
        <p:txBody>
          <a:bodyPr wrap="square" lIns="54864" tIns="38100" rIns="54864" bIns="38100" anchor="t">
            <a:spAutoFit/>
          </a:bodyPr>
          <a:lstStyle/>
          <a:p>
            <a:pPr algn="l">
              <a:spcAft>
                <a:spcPts val="400"/>
              </a:spcAft>
            </a:pPr>
            <a:r>
              <a:rPr sz="900" b="0" i="0">
                <a:solidFill>
                  <a:srgbClr val="6B7688"/>
                </a:solidFill>
                <a:latin typeface="Calibri"/>
              </a:rPr>
              <a:t>Automated ICD-9 coding  ·  MIMIC-III  ·  self-learning tutorial</a:t>
            </a:r>
          </a:p>
        </p:txBody>
      </p:sp>
      <p:sp>
        <p:nvSpPr>
          <p:cNvPr id="33" name="TextBox 32"/>
          <p:cNvSpPr txBox="1"/>
          <p:nvPr/>
        </p:nvSpPr>
        <p:spPr>
          <a:xfrm>
            <a:off x="9692640" y="6473952"/>
            <a:ext cx="1856231" cy="274320"/>
          </a:xfrm>
          <a:prstGeom prst="rect">
            <a:avLst/>
          </a:prstGeom>
          <a:noFill/>
        </p:spPr>
        <p:txBody>
          <a:bodyPr wrap="square" lIns="54864" tIns="38100" rIns="54864" bIns="38100" anchor="t">
            <a:spAutoFit/>
          </a:bodyPr>
          <a:lstStyle/>
          <a:p>
            <a:pPr algn="r">
              <a:spcAft>
                <a:spcPts val="400"/>
              </a:spcAft>
            </a:pPr>
            <a:r>
              <a:rPr sz="900" b="0" i="0">
                <a:solidFill>
                  <a:srgbClr val="6B7688"/>
                </a:solidFill>
                <a:latin typeface="Calibri"/>
              </a:rPr>
              <a:t>11 / 11</a:t>
            </a:r>
          </a:p>
        </p:txBody>
      </p:sp>
    </p:spTree>
    <p:extLst>
      <p:ext uri="{BB962C8B-B14F-4D97-AF65-F5344CB8AC3E}">
        <p14:creationId xmlns:p14="http://schemas.microsoft.com/office/powerpoint/2010/main" val="3352293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8016" cy="68580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868680"/>
            <a:ext cx="9144000" cy="276999"/>
          </a:xfrm>
          <a:prstGeom prst="rect">
            <a:avLst/>
          </a:prstGeom>
          <a:noFill/>
        </p:spPr>
        <p:txBody>
          <a:bodyPr wrap="square" lIns="54864" tIns="38100" rIns="54864" bIns="38100" anchor="t">
            <a:spAutoFit/>
          </a:bodyPr>
          <a:lstStyle/>
          <a:p>
            <a:pPr>
              <a:spcAft>
                <a:spcPts val="400"/>
              </a:spcAft>
            </a:pPr>
            <a:r>
              <a:rPr lang="en-US" sz="1300" b="1" dirty="0">
                <a:solidFill>
                  <a:srgbClr val="33B3C6"/>
                </a:solidFill>
              </a:rPr>
              <a:t>SUMMARY </a:t>
            </a:r>
            <a:endParaRPr lang="en-US" sz="1300" b="1" i="0" dirty="0">
              <a:solidFill>
                <a:srgbClr val="33B3C6"/>
              </a:solidFill>
              <a:latin typeface="Calibri"/>
            </a:endParaRPr>
          </a:p>
        </p:txBody>
      </p:sp>
      <p:sp>
        <p:nvSpPr>
          <p:cNvPr id="7" name="TextBox 6"/>
          <p:cNvSpPr txBox="1"/>
          <p:nvPr/>
        </p:nvSpPr>
        <p:spPr>
          <a:xfrm>
            <a:off x="804672" y="1234440"/>
            <a:ext cx="10424160" cy="1000274"/>
          </a:xfrm>
          <a:prstGeom prst="rect">
            <a:avLst/>
          </a:prstGeom>
          <a:noFill/>
        </p:spPr>
        <p:txBody>
          <a:bodyPr wrap="square" lIns="54864" tIns="38100" rIns="54864" bIns="38100" anchor="t">
            <a:spAutoFit/>
          </a:bodyPr>
          <a:lstStyle/>
          <a:p>
            <a:pPr algn="l">
              <a:spcAft>
                <a:spcPts val="200"/>
              </a:spcAft>
            </a:pPr>
            <a:r>
              <a:rPr sz="3000" b="0" i="0" dirty="0">
                <a:solidFill>
                  <a:srgbClr val="FFFFFF"/>
                </a:solidFill>
                <a:latin typeface="Cambria" panose="02040503050406030204" pitchFamily="18" charset="0"/>
                <a:ea typeface="Cambria" panose="02040503050406030204" pitchFamily="18" charset="0"/>
              </a:rPr>
              <a:t>Enter a discharge summary to receive ranked ICD-9 code suggestions with highlighted supporting phrases.</a:t>
            </a:r>
          </a:p>
        </p:txBody>
      </p:sp>
      <p:sp>
        <p:nvSpPr>
          <p:cNvPr id="8" name="TextBox 7"/>
          <p:cNvSpPr txBox="1"/>
          <p:nvPr/>
        </p:nvSpPr>
        <p:spPr>
          <a:xfrm>
            <a:off x="822960" y="2880360"/>
            <a:ext cx="10332720" cy="2194560"/>
          </a:xfrm>
          <a:prstGeom prst="rect">
            <a:avLst/>
          </a:prstGeom>
          <a:noFill/>
        </p:spPr>
        <p:txBody>
          <a:bodyPr wrap="square" lIns="54864" rIns="54864" anchor="t">
            <a:spAutoFit/>
          </a:bodyPr>
          <a:lstStyle/>
          <a:p>
            <a:pPr algn="l">
              <a:spcAft>
                <a:spcPts val="1200"/>
              </a:spcAft>
            </a:pPr>
            <a:r>
              <a:rPr sz="1550" b="0" i="0">
                <a:solidFill>
                  <a:srgbClr val="C9D6E4"/>
                </a:solidFill>
                <a:latin typeface="Calibri"/>
              </a:rPr>
              <a:t>We framed medical coding as multi-label text classification, carved a patient-safe cohort from three MIMIC-III tables, and chose metrics that respect rare codes.</a:t>
            </a:r>
          </a:p>
          <a:p>
            <a:pPr algn="l">
              <a:spcAft>
                <a:spcPts val="1200"/>
              </a:spcAft>
            </a:pPr>
            <a:r>
              <a:rPr sz="1550" b="0" i="0">
                <a:solidFill>
                  <a:srgbClr val="C9D6E4"/>
                </a:solidFill>
                <a:latin typeface="Calibri"/>
              </a:rPr>
              <a:t>A transparent baseline set a strong bar. A CNN with per-label attention reached comparable accuracy and, unlike the baseline, </a:t>
            </a:r>
            <a:r>
              <a:rPr sz="1550" b="1" i="0">
                <a:solidFill>
                  <a:srgbClr val="E8B23A"/>
                </a:solidFill>
                <a:latin typeface="Calibri"/>
              </a:rPr>
              <a:t>pointed to the exact phrase behind every code it predicted.</a:t>
            </a:r>
          </a:p>
        </p:txBody>
      </p:sp>
      <p:sp>
        <p:nvSpPr>
          <p:cNvPr id="9" name="Rounded Rectangle 8"/>
          <p:cNvSpPr/>
          <p:nvPr/>
        </p:nvSpPr>
        <p:spPr>
          <a:xfrm>
            <a:off x="2240280" y="4846320"/>
            <a:ext cx="2194560" cy="457200"/>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00" b="1" i="0" dirty="0">
                <a:solidFill>
                  <a:srgbClr val="FFFFFF"/>
                </a:solidFill>
                <a:latin typeface="Cambria" panose="02040503050406030204" pitchFamily="18" charset="0"/>
                <a:ea typeface="Cambria" panose="02040503050406030204" pitchFamily="18" charset="0"/>
              </a:rPr>
              <a:t>discharge note</a:t>
            </a:r>
          </a:p>
        </p:txBody>
      </p:sp>
      <p:sp>
        <p:nvSpPr>
          <p:cNvPr id="10" name="Right Arrow 9"/>
          <p:cNvSpPr/>
          <p:nvPr/>
        </p:nvSpPr>
        <p:spPr>
          <a:xfrm>
            <a:off x="4572000" y="4919472"/>
            <a:ext cx="411480" cy="320040"/>
          </a:xfrm>
          <a:prstGeom prst="rightArrow">
            <a:avLst/>
          </a:prstGeom>
          <a:solidFill>
            <a:srgbClr val="33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120640" y="4846320"/>
            <a:ext cx="1737360" cy="457200"/>
          </a:xfrm>
          <a:prstGeom prst="roundRect">
            <a:avLst>
              <a:gd name="adj" fmla="val 50000"/>
            </a:avLst>
          </a:prstGeom>
          <a:solidFill>
            <a:srgbClr val="213B6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00" b="1" i="0" dirty="0">
                <a:solidFill>
                  <a:srgbClr val="FFFFFF"/>
                </a:solidFill>
                <a:latin typeface="Cambria" panose="02040503050406030204" pitchFamily="18" charset="0"/>
                <a:ea typeface="Cambria" panose="02040503050406030204" pitchFamily="18" charset="0"/>
              </a:rPr>
              <a:t>ICD codes</a:t>
            </a:r>
          </a:p>
        </p:txBody>
      </p:sp>
      <p:sp>
        <p:nvSpPr>
          <p:cNvPr id="12" name="Right Arrow 11"/>
          <p:cNvSpPr/>
          <p:nvPr/>
        </p:nvSpPr>
        <p:spPr>
          <a:xfrm>
            <a:off x="6995160" y="4919472"/>
            <a:ext cx="411480" cy="320040"/>
          </a:xfrm>
          <a:prstGeom prst="rightArrow">
            <a:avLst/>
          </a:prstGeom>
          <a:solidFill>
            <a:srgbClr val="33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543800" y="4846320"/>
            <a:ext cx="2103120" cy="457200"/>
          </a:xfrm>
          <a:prstGeom prst="roundRect">
            <a:avLst>
              <a:gd name="adj" fmla="val 50000"/>
            </a:avLst>
          </a:prstGeom>
          <a:solidFill>
            <a:srgbClr val="E8B23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100" rIns="54864" bIns="38100" rtlCol="0" anchor="ctr"/>
          <a:lstStyle/>
          <a:p>
            <a:pPr algn="ctr">
              <a:spcAft>
                <a:spcPts val="100"/>
              </a:spcAft>
            </a:pPr>
            <a:r>
              <a:rPr sz="1200" b="1" i="0" dirty="0">
                <a:solidFill>
                  <a:srgbClr val="0E1B2E"/>
                </a:solidFill>
                <a:latin typeface="Cambria" panose="02040503050406030204" pitchFamily="18" charset="0"/>
                <a:ea typeface="Cambria" panose="02040503050406030204" pitchFamily="18" charset="0"/>
              </a:rPr>
              <a:t>the evidence</a:t>
            </a:r>
          </a:p>
        </p:txBody>
      </p:sp>
    </p:spTree>
    <p:extLst>
      <p:ext uri="{BB962C8B-B14F-4D97-AF65-F5344CB8AC3E}">
        <p14:creationId xmlns:p14="http://schemas.microsoft.com/office/powerpoint/2010/main" val="2962819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2EAF183-E042-494C-83AE-2CC1299A2D34}">
  <we:reference id="wa200010001" version="1.0.0.1" store="en-US" storeType="OMEX"/>
  <we:alternateReferences>
    <we:reference id="wa200010001" version="1.0.0.1" store="wa200010001" storeType="OMEX"/>
  </we:alternateReferences>
  <we:properties>
    <we:property name="claude.fileId" value="&quot;cec875d1-ffcd-45e9-a3f8-0bdf1448654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151</TotalTime>
  <Words>3665</Words>
  <Application>Microsoft Office PowerPoint</Application>
  <PresentationFormat>Widescreen</PresentationFormat>
  <Paragraphs>286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Abdullah AK</cp:lastModifiedBy>
  <cp:revision>11</cp:revision>
  <dcterms:created xsi:type="dcterms:W3CDTF">2013-01-27T09:14:16Z</dcterms:created>
  <dcterms:modified xsi:type="dcterms:W3CDTF">2026-07-14T00:16:33Z</dcterms:modified>
  <cp:category/>
</cp:coreProperties>
</file>